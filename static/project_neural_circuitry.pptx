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9.xml" ContentType="application/vnd.openxmlformats-officedocument.presentationml.notesSlide+xml"/>
  <Override PartName="/ppt/ink/ink36.xml" ContentType="application/inkml+xml"/>
  <Override PartName="/ppt/notesSlides/notesSlide10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11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2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59" r:id="rId6"/>
    <p:sldId id="264" r:id="rId7"/>
    <p:sldId id="265" r:id="rId8"/>
    <p:sldId id="273" r:id="rId9"/>
    <p:sldId id="267" r:id="rId10"/>
    <p:sldId id="272" r:id="rId11"/>
    <p:sldId id="274" r:id="rId12"/>
    <p:sldId id="263" r:id="rId13"/>
    <p:sldId id="270" r:id="rId14"/>
    <p:sldId id="266" r:id="rId15"/>
    <p:sldId id="271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E8E8E8"/>
    <a:srgbClr val="F2F3F0"/>
    <a:srgbClr val="DF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 KOCI" userId="624af766b839cc87" providerId="LiveId" clId="{330E22F1-3261-45BA-A266-92A9C106C077}"/>
    <pc:docChg chg="undo custSel modSld">
      <pc:chgData name="Nino KOCI" userId="624af766b839cc87" providerId="LiveId" clId="{330E22F1-3261-45BA-A266-92A9C106C077}" dt="2025-12-10T11:50:58.054" v="7" actId="26606"/>
      <pc:docMkLst>
        <pc:docMk/>
      </pc:docMkLst>
      <pc:sldChg chg="modSp mod">
        <pc:chgData name="Nino KOCI" userId="624af766b839cc87" providerId="LiveId" clId="{330E22F1-3261-45BA-A266-92A9C106C077}" dt="2025-12-10T11:49:53.083" v="3" actId="20577"/>
        <pc:sldMkLst>
          <pc:docMk/>
          <pc:sldMk cId="3990322874" sldId="256"/>
        </pc:sldMkLst>
        <pc:spChg chg="mod">
          <ac:chgData name="Nino KOCI" userId="624af766b839cc87" providerId="LiveId" clId="{330E22F1-3261-45BA-A266-92A9C106C077}" dt="2025-12-10T11:49:53.083" v="3" actId="20577"/>
          <ac:spMkLst>
            <pc:docMk/>
            <pc:sldMk cId="3990322874" sldId="256"/>
            <ac:spMk id="3" creationId="{10111AAF-1358-F672-17E0-DEDF5CEF6FC8}"/>
          </ac:spMkLst>
        </pc:spChg>
      </pc:sldChg>
      <pc:sldChg chg="addSp delSp modSp mod setBg setClrOvrMap">
        <pc:chgData name="Nino KOCI" userId="624af766b839cc87" providerId="LiveId" clId="{330E22F1-3261-45BA-A266-92A9C106C077}" dt="2025-12-10T11:50:58.054" v="7" actId="26606"/>
        <pc:sldMkLst>
          <pc:docMk/>
          <pc:sldMk cId="3662689599" sldId="257"/>
        </pc:sldMkLst>
        <pc:spChg chg="mod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2" creationId="{DD78DCB7-E3BA-30A9-14E1-FAF0F99DAEF2}"/>
          </ac:spMkLst>
        </pc:spChg>
        <pc:spChg chg="mod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3" creationId="{6DC2D1ED-7A83-7360-2CA1-1A6FA0E45A76}"/>
          </ac:spMkLst>
        </pc:spChg>
        <pc:spChg chg="add del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8" creationId="{C5176844-69C3-4F79-BE38-EA5BDDF4FEA4}"/>
          </ac:spMkLst>
        </pc:spChg>
        <pc:spChg chg="add del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10" creationId="{1CF1AAE4-D0BC-430F-A613-7BBAAECA0C2D}"/>
          </ac:spMkLst>
        </pc:spChg>
        <pc:spChg chg="add del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12" creationId="{A101E513-AF74-4E9D-A31F-99664250722D}"/>
          </ac:spMkLst>
        </pc:spChg>
        <pc:spChg chg="add del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17" creationId="{C5176844-69C3-4F79-BE38-EA5BDDF4FEA4}"/>
          </ac:spMkLst>
        </pc:spChg>
        <pc:spChg chg="add del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21" creationId="{CAF8A158-E51E-4253-820B-3970F73976B6}"/>
          </ac:spMkLst>
        </pc:spChg>
        <pc:spChg chg="add del">
          <ac:chgData name="Nino KOCI" userId="624af766b839cc87" providerId="LiveId" clId="{330E22F1-3261-45BA-A266-92A9C106C077}" dt="2025-12-10T11:50:58.054" v="7" actId="26606"/>
          <ac:spMkLst>
            <pc:docMk/>
            <pc:sldMk cId="3662689599" sldId="257"/>
            <ac:spMk id="23" creationId="{A101E513-AF74-4E9D-A31F-99664250722D}"/>
          </ac:spMkLst>
        </pc:spChg>
        <pc:picChg chg="mod">
          <ac:chgData name="Nino KOCI" userId="624af766b839cc87" providerId="LiveId" clId="{330E22F1-3261-45BA-A266-92A9C106C077}" dt="2025-12-10T11:50:58.054" v="7" actId="26606"/>
          <ac:picMkLst>
            <pc:docMk/>
            <pc:sldMk cId="3662689599" sldId="257"/>
            <ac:picMk id="5" creationId="{0D47D166-4F6E-8288-3E12-20397DDA0198}"/>
          </ac:picMkLst>
        </pc:picChg>
        <pc:cxnChg chg="add del">
          <ac:chgData name="Nino KOCI" userId="624af766b839cc87" providerId="LiveId" clId="{330E22F1-3261-45BA-A266-92A9C106C077}" dt="2025-12-10T11:50:58.054" v="7" actId="26606"/>
          <ac:cxnSpMkLst>
            <pc:docMk/>
            <pc:sldMk cId="3662689599" sldId="257"/>
            <ac:cxnSpMk id="19" creationId="{33862825-C012-4895-A17E-F3D1F62D89DD}"/>
          </ac:cxnSpMkLst>
        </pc:cxnChg>
      </pc:sldChg>
      <pc:sldChg chg="addSp delSp modSp mod setBg setClrOvrMap">
        <pc:chgData name="Nino KOCI" userId="624af766b839cc87" providerId="LiveId" clId="{330E22F1-3261-45BA-A266-92A9C106C077}" dt="2025-12-10T11:50:56.281" v="6" actId="26606"/>
        <pc:sldMkLst>
          <pc:docMk/>
          <pc:sldMk cId="436673869" sldId="258"/>
        </pc:sldMkLst>
        <pc:spChg chg="mod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2" creationId="{E834E761-5D7E-F7EB-335E-28B6466A648F}"/>
          </ac:spMkLst>
        </pc:spChg>
        <pc:spChg chg="mod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3" creationId="{FB1B008E-5775-43ED-2151-ED62DEB476CE}"/>
          </ac:spMkLst>
        </pc:spChg>
        <pc:spChg chg="add del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8" creationId="{C5176844-69C3-4F79-BE38-EA5BDDF4FEA4}"/>
          </ac:spMkLst>
        </pc:spChg>
        <pc:spChg chg="add del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10" creationId="{1CF1AAE4-D0BC-430F-A613-7BBAAECA0C2D}"/>
          </ac:spMkLst>
        </pc:spChg>
        <pc:spChg chg="add del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12" creationId="{A101E513-AF74-4E9D-A31F-99664250722D}"/>
          </ac:spMkLst>
        </pc:spChg>
        <pc:spChg chg="add del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17" creationId="{C5176844-69C3-4F79-BE38-EA5BDDF4FEA4}"/>
          </ac:spMkLst>
        </pc:spChg>
        <pc:spChg chg="add del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21" creationId="{CAF8A158-E51E-4253-820B-3970F73976B6}"/>
          </ac:spMkLst>
        </pc:spChg>
        <pc:spChg chg="add del">
          <ac:chgData name="Nino KOCI" userId="624af766b839cc87" providerId="LiveId" clId="{330E22F1-3261-45BA-A266-92A9C106C077}" dt="2025-12-10T11:50:56.281" v="6" actId="26606"/>
          <ac:spMkLst>
            <pc:docMk/>
            <pc:sldMk cId="436673869" sldId="258"/>
            <ac:spMk id="23" creationId="{A101E513-AF74-4E9D-A31F-99664250722D}"/>
          </ac:spMkLst>
        </pc:spChg>
        <pc:picChg chg="mod">
          <ac:chgData name="Nino KOCI" userId="624af766b839cc87" providerId="LiveId" clId="{330E22F1-3261-45BA-A266-92A9C106C077}" dt="2025-12-10T11:50:56.281" v="6" actId="26606"/>
          <ac:picMkLst>
            <pc:docMk/>
            <pc:sldMk cId="436673869" sldId="258"/>
            <ac:picMk id="6" creationId="{E9368B00-6CD5-8EF4-6819-40A5324C7911}"/>
          </ac:picMkLst>
        </pc:picChg>
        <pc:picChg chg="mod ord">
          <ac:chgData name="Nino KOCI" userId="624af766b839cc87" providerId="LiveId" clId="{330E22F1-3261-45BA-A266-92A9C106C077}" dt="2025-12-10T11:50:56.281" v="6" actId="26606"/>
          <ac:picMkLst>
            <pc:docMk/>
            <pc:sldMk cId="436673869" sldId="258"/>
            <ac:picMk id="7" creationId="{86659B27-9AC9-ECBF-B55A-991640FEAEA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3:54.1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1,'256'304,"-247"-293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3:55.78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0,'359'428,"-348"-415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3:57.0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0,'430'513,"-423"-504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3:58.48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0,'7'8,"11"14,10 11,8 10,5 6,-1-1,-1-2,0 1,1 1,-2-4,-2 0,-1-2,-3-5,-7-7,-5-6,-6-7,-4-6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3:59.87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1,'557'663,"-546"-650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4:01.36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1,'617'735,"-609"-725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5:09.16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1,'3191'3803,"-3179"-3789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6:02.4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0,'2637'3143,"-2615"-3117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16:19.3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0,'2637'3143,"-2615"-3117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0.1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1,'406'0,"-395"0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0.1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1,'379'0,"-367"0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0.10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1,'2'0,"3"0,4 0,3 0,2 0,0 0,2 0,-1 0,1 0,-1 0,0 0,0 0,0 0,1 0,-1 0,-3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0.10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1,'436'0,"-429"0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0.10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1,'238'0,"-231"0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6.2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1,'406'0,"-395"0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6.24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1,'379'0,"-367"0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6.2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1,'2'0,"3"0,4 0,3 0,2 0,0 0,2 0,-1 0,1 0,-1 0,0 0,0 0,0 0,1 0,-1 0,-3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6.24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1,'436'0,"-429"0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06.2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1,'238'0,"-231"0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1.0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1,'406'0,"-395"0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1.09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1,'379'0,"-367"0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1.09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1,'2'0,"3"0,4 0,3 0,2 0,0 0,2 0,-1 0,1 0,-1 0,0 0,0 0,0 0,1 0,-1 0,-3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1.09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1,'436'0,"-429"0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1.0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1,'238'0,"-231"0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6.97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1,'406'0,"-395"0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6.97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1,'379'0,"-367"0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6.9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1,'2'0,"3"0,4 0,3 0,2 0,0 0,2 0,-1 0,1 0,-1 0,0 0,0 0,0 0,1 0,-1 0,-3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6.98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1,'436'0,"-429"0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5:26.98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1,'238'0,"-231"0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31.82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1,'0'536,"0"-521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33.05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1,'0'756,"0"-736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34.47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1,'0'340,"0"-327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35.5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0,'0'904,"0"-889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36.95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1,'0'520,"0"-500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37.99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0,'0'622,"0"-603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7T18:44:38.46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33.29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1,'706'0,"-692"0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34.85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1,'741'0,"-727"0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35.85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1,'726'0,"-709"0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37.0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1,'1050'0,"-1032"0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41.04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186 1,'429'0,"-1028"0,584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54.55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1,'706'0,"-692"0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54.55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1,'741'0,"-727"0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54.55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1,'726'0,"-709"0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08:54.55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1,'1050'0,"-1032"0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3:27.0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3:55.89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1,'2'0,"3"0,2 0,3 0,4 0,-1 0,2 0,1 0,-1 0,0 0,0 0,2 0,-2 0,0 0,0 0,0 0,-3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3:56.91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1,'285'0,"-275"0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3:58.25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1,'342'0,"-329"0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3:59.50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1,'305'0,"-296"0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00.55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1,'431'0,"-420"0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05.32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1,'832'0,"-822"0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31.94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1,'3'0,"4"0,4 0,1 0,2 0,2 0,-1 0,0 0,1 0,0 0,-2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32.94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1,'2'0,"3"0,4 0,3 0,2 0,0 0,2 0,-1 0,1 0,0 0,-2 0,1 0,0 0,1 0,-1 0,0 0,1 0,-3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33.78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1,'408'0,"-394"0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37.39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55 1,'132'0,"-307"0,164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39.54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1,'406'0,"-395"0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40.2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1,'379'0,"-367"0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41.00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1,'2'0,"3"0,4 0,3 0,2 0,0 0,2 0,-1 0,1 0,-1 0,0 0,0 0,0 0,1 0,-1 0,-3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42.07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1,'436'0,"-429"0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3:54:43.58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1,'238'0,"-231"0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50.54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0,'0'468,"0"-451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53.30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0,'0'732,"0"-714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54.89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1,'0'685,"0"-665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1:56.49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1,'0'658,"0"-637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2:00.61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1,'0'683,"0"-661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4T04:12:04.42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17,'0'-5,"0"-1,0 3,0 1,0 4,0 6,0 2,0 4,0 5,0 1,0 1,0 4,0-4,0-3,0 1,0-4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30384-D7D1-4DBF-949A-E8311757410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4F92B-1123-4188-9A4A-6ACD035B1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3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Courtesy </a:t>
            </a:r>
            <a:r>
              <a:rPr lang="en-US" dirty="0" err="1"/>
              <a:t>of:https</a:t>
            </a:r>
            <a:r>
              <a:rPr lang="en-US" dirty="0"/>
              <a:t>://www.simplypsychology.org/myelin-sheath.html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6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1 curtesy of: https://courses.lumenlearning.com/wm-biology2/chapter/resting-membrane-potential/</a:t>
            </a:r>
          </a:p>
          <a:p>
            <a:r>
              <a:rPr lang="en-US" dirty="0"/>
              <a:t>Image 2 courtesy of: https://www.physiologyweb.com/calculators/nernst_equation_calculator.html</a:t>
            </a:r>
          </a:p>
          <a:p>
            <a:r>
              <a:rPr lang="en-US" dirty="0"/>
              <a:t>Image 3 courtesy of: https://www.physiologyweb.com/calculators/ghk_equation_calculator.html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9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courtesy of: https://faculty.washington.edu/chudler/ap.html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84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from Nelson Fig.12.3.b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76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</a:t>
            </a:r>
            <a:r>
              <a:rPr lang="en-US" baseline="30000" dirty="0" err="1"/>
              <a:t>+</a:t>
            </a:r>
            <a:r>
              <a:rPr lang="en-US" baseline="0" dirty="0" err="1"/>
              <a:t>conductivity</a:t>
            </a:r>
            <a:r>
              <a:rPr lang="en-US" baseline="0" dirty="0"/>
              <a:t> reference: </a:t>
            </a:r>
            <a:r>
              <a:rPr lang="en-US" dirty="0" err="1"/>
              <a:t>Sakmann</a:t>
            </a:r>
            <a:r>
              <a:rPr lang="en-US" dirty="0"/>
              <a:t> B, </a:t>
            </a:r>
            <a:r>
              <a:rPr lang="en-US" dirty="0" err="1"/>
              <a:t>Trube</a:t>
            </a:r>
            <a:r>
              <a:rPr lang="en-US" dirty="0"/>
              <a:t> G. Conductance properties of single inwardly rectifying potassium channels in ventricular cells from guinea-pig heart. J Physiol. 1984 Feb;347:641-57. </a:t>
            </a:r>
            <a:r>
              <a:rPr lang="en-US" dirty="0" err="1"/>
              <a:t>doi</a:t>
            </a:r>
            <a:r>
              <a:rPr lang="en-US" dirty="0"/>
              <a:t>: 10.1113/jphysiol.1984.sp015088. PMID: 6323703; PMCID: PMC1199469</a:t>
            </a: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Na</a:t>
            </a:r>
            <a:r>
              <a:rPr lang="en-US" baseline="30000" dirty="0"/>
              <a:t>+</a:t>
            </a:r>
            <a:r>
              <a:rPr lang="en-US" baseline="0" dirty="0"/>
              <a:t> conductance </a:t>
            </a:r>
            <a:r>
              <a:rPr lang="en-US" baseline="0" dirty="0" err="1"/>
              <a:t>reffrence</a:t>
            </a:r>
            <a:r>
              <a:rPr lang="en-US" baseline="0" dirty="0"/>
              <a:t>: </a:t>
            </a:r>
            <a:r>
              <a:rPr lang="en-US" dirty="0"/>
              <a:t>Milburn T, Saint DA, Chung SH. The temperature dependence of conductance of the sodium channel: implications for mechanisms of ion permeation. </a:t>
            </a:r>
            <a:r>
              <a:rPr lang="en-US" dirty="0" err="1"/>
              <a:t>Recept</a:t>
            </a:r>
            <a:r>
              <a:rPr lang="en-US" dirty="0"/>
              <a:t> Channels. 1995;3(3):201-211. PMID: 8821793.</a:t>
            </a:r>
          </a:p>
          <a:p>
            <a:r>
              <a:rPr lang="en-US" dirty="0" err="1"/>
              <a:t>Equlibrium</a:t>
            </a:r>
            <a:r>
              <a:rPr lang="en-US" dirty="0"/>
              <a:t> potentials from: https://openbooks.lib.msu.edu/neuroscience/chapter/membrane-potential/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33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Figure is a courtesy of: https://mrgreene09.github.io/computational-neuroscience-textbook/Ch4.html</a:t>
            </a:r>
          </a:p>
          <a:p>
            <a:r>
              <a:rPr lang="en-US" dirty="0"/>
              <a:t>The bottom Figures (left to right) are from Nelson Fig.12.11 and 12.13.c 12.13.d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25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from Nelson Fig.12.4.b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83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 used to make figure:</a:t>
            </a:r>
          </a:p>
          <a:p>
            <a:r>
              <a:rPr lang="en-US" dirty="0"/>
              <a:t>plot of y=V0 * (1-exp(-t/tau)) for t=0 to 11</a:t>
            </a:r>
          </a:p>
          <a:p>
            <a:r>
              <a:rPr lang="en-US" dirty="0"/>
              <a:t>plot of y=V0 * exp(-(t-10)/tau) for t=10 to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07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Image from Nelson Fig.12.4.b</a:t>
            </a:r>
          </a:p>
          <a:p>
            <a:r>
              <a:rPr lang="en-US" dirty="0"/>
              <a:t>Bottom image as a courtesy </a:t>
            </a:r>
            <a:r>
              <a:rPr lang="en-US" dirty="0" err="1"/>
              <a:t>from:http</a:t>
            </a:r>
            <a:r>
              <a:rPr lang="en-US" dirty="0"/>
              <a:t>://pittmedneuro.com/synaptic.html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72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of the figure from wolfram: plot V0 * exp(-|x|/lambda) from x=-10 to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84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1:Montanino, A., </a:t>
            </a:r>
            <a:r>
              <a:rPr lang="en-US" dirty="0" err="1"/>
              <a:t>Deryckere</a:t>
            </a:r>
            <a:r>
              <a:rPr lang="en-US" dirty="0"/>
              <a:t>, A., </a:t>
            </a:r>
            <a:r>
              <a:rPr lang="en-US" dirty="0" err="1"/>
              <a:t>Famaey</a:t>
            </a:r>
            <a:r>
              <a:rPr lang="en-US" dirty="0"/>
              <a:t>, N. </a:t>
            </a:r>
            <a:r>
              <a:rPr lang="en-US" i="1" dirty="0"/>
              <a:t>et al.</a:t>
            </a:r>
            <a:r>
              <a:rPr lang="en-US" dirty="0"/>
              <a:t> Mechanical characterization of squid giant axon membrane sheath and influence of the collagenous endoneurium on its properties. </a:t>
            </a:r>
            <a:r>
              <a:rPr lang="en-US" i="1" dirty="0"/>
              <a:t>Sci Rep</a:t>
            </a:r>
            <a:r>
              <a:rPr lang="en-US" dirty="0"/>
              <a:t> </a:t>
            </a:r>
            <a:r>
              <a:rPr lang="en-US" b="1" dirty="0"/>
              <a:t>9</a:t>
            </a:r>
            <a:r>
              <a:rPr lang="en-US" dirty="0"/>
              <a:t>, 8969 (2019). https://doi.org/10.1038/s41598-019-45446-y, Fig.2.B</a:t>
            </a:r>
          </a:p>
          <a:p>
            <a:r>
              <a:rPr lang="en-US" dirty="0"/>
              <a:t>Plot for the bottom figure from </a:t>
            </a:r>
            <a:r>
              <a:rPr lang="en-US" dirty="0" err="1"/>
              <a:t>wolfram:plot</a:t>
            </a:r>
            <a:r>
              <a:rPr lang="en-US" dirty="0"/>
              <a:t> of y=V0 * exp(-|x|/lambda) and y=V0 * exp(-|x|/2 lambda)  and y=V0 * exp(-|x|/3 lambda)   for x=-10 to10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66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Courtesy </a:t>
            </a:r>
            <a:r>
              <a:rPr lang="en-US" dirty="0" err="1"/>
              <a:t>of:https</a:t>
            </a:r>
            <a:r>
              <a:rPr lang="en-US" dirty="0"/>
              <a:t>://www.simplypsychology.org/myelin-sheath</a:t>
            </a:r>
            <a:r>
              <a:rPr lang="en-US"/>
              <a:t>.html</a:t>
            </a:r>
            <a:endParaRPr lang="en-US" dirty="0"/>
          </a:p>
          <a:p>
            <a:r>
              <a:rPr lang="en-US" dirty="0"/>
              <a:t>Plots for the bottom figure from wolfram: plot of y=V0 * (1-exp(-t/tau)) and y=V0 * (1-exp(-t/2tau))  and y=V0 * (1-exp(-t/3tau))   for t=0 to 11</a:t>
            </a:r>
          </a:p>
          <a:p>
            <a:r>
              <a:rPr lang="en-US" dirty="0"/>
              <a:t>plot of y=V0 * exp(-(t-10)/tau) and y=V0 * exp(-(t-10)/2tau)  and y=V0 * exp(-(t-10)/3tau)   for t=10 to 20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4F92B-1123-4188-9A4A-6ACD035B17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0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41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9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96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541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29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66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78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72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02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7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2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3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1.png"/><Relationship Id="rId15" Type="http://schemas.openxmlformats.org/officeDocument/2006/relationships/image" Target="../media/image11.png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customXml" Target="../ink/ink18.xml"/><Relationship Id="rId26" Type="http://schemas.openxmlformats.org/officeDocument/2006/relationships/customXml" Target="../ink/ink26.xml"/><Relationship Id="rId39" Type="http://schemas.openxmlformats.org/officeDocument/2006/relationships/image" Target="../media/image33.png"/><Relationship Id="rId21" Type="http://schemas.openxmlformats.org/officeDocument/2006/relationships/customXml" Target="../ink/ink21.xml"/><Relationship Id="rId34" Type="http://schemas.openxmlformats.org/officeDocument/2006/relationships/customXml" Target="../ink/ink32.xml"/><Relationship Id="rId7" Type="http://schemas.openxmlformats.org/officeDocument/2006/relationships/customXml" Target="../ink/ink11.xml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16.xml"/><Relationship Id="rId20" Type="http://schemas.openxmlformats.org/officeDocument/2006/relationships/customXml" Target="../ink/ink20.xml"/><Relationship Id="rId29" Type="http://schemas.openxmlformats.org/officeDocument/2006/relationships/customXml" Target="../ink/ink29.xml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13.xml"/><Relationship Id="rId24" Type="http://schemas.openxmlformats.org/officeDocument/2006/relationships/customXml" Target="../ink/ink24.xml"/><Relationship Id="rId32" Type="http://schemas.openxmlformats.org/officeDocument/2006/relationships/customXml" Target="../ink/ink31.xml"/><Relationship Id="rId37" Type="http://schemas.openxmlformats.org/officeDocument/2006/relationships/image" Target="../media/image32.png"/><Relationship Id="rId40" Type="http://schemas.openxmlformats.org/officeDocument/2006/relationships/customXml" Target="../ink/ink35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customXml" Target="../ink/ink23.xml"/><Relationship Id="rId28" Type="http://schemas.openxmlformats.org/officeDocument/2006/relationships/customXml" Target="../ink/ink28.xml"/><Relationship Id="rId36" Type="http://schemas.openxmlformats.org/officeDocument/2006/relationships/customXml" Target="../ink/ink33.xml"/><Relationship Id="rId10" Type="http://schemas.openxmlformats.org/officeDocument/2006/relationships/image" Target="../media/image26.png"/><Relationship Id="rId19" Type="http://schemas.openxmlformats.org/officeDocument/2006/relationships/customXml" Target="../ink/ink19.xml"/><Relationship Id="rId31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customXml" Target="../ink/ink12.xml"/><Relationship Id="rId14" Type="http://schemas.openxmlformats.org/officeDocument/2006/relationships/image" Target="../media/image28.png"/><Relationship Id="rId22" Type="http://schemas.openxmlformats.org/officeDocument/2006/relationships/customXml" Target="../ink/ink22.xml"/><Relationship Id="rId27" Type="http://schemas.openxmlformats.org/officeDocument/2006/relationships/customXml" Target="../ink/ink27.xml"/><Relationship Id="rId30" Type="http://schemas.openxmlformats.org/officeDocument/2006/relationships/customXml" Target="../ink/ink30.xml"/><Relationship Id="rId35" Type="http://schemas.openxmlformats.org/officeDocument/2006/relationships/image" Target="../media/image31.png"/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customXml" Target="../ink/ink17.xml"/><Relationship Id="rId25" Type="http://schemas.openxmlformats.org/officeDocument/2006/relationships/customXml" Target="../ink/ink25.xml"/><Relationship Id="rId33" Type="http://schemas.openxmlformats.org/officeDocument/2006/relationships/image" Target="../media/image30.png"/><Relationship Id="rId38" Type="http://schemas.openxmlformats.org/officeDocument/2006/relationships/customXml" Target="../ink/ink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customXml" Target="../ink/ink41.xml"/><Relationship Id="rId3" Type="http://schemas.openxmlformats.org/officeDocument/2006/relationships/image" Target="../media/image39.png"/><Relationship Id="rId7" Type="http://schemas.openxmlformats.org/officeDocument/2006/relationships/customXml" Target="../ink/ink38.xml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0" Type="http://schemas.openxmlformats.org/officeDocument/2006/relationships/image" Target="../media/image400.png"/><Relationship Id="rId4" Type="http://schemas.openxmlformats.org/officeDocument/2006/relationships/image" Target="../media/image40.png"/><Relationship Id="rId9" Type="http://schemas.openxmlformats.org/officeDocument/2006/relationships/customXml" Target="../ink/ink39.xml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41.png"/><Relationship Id="rId3" Type="http://schemas.openxmlformats.org/officeDocument/2006/relationships/image" Target="../media/image43.png"/><Relationship Id="rId7" Type="http://schemas.openxmlformats.org/officeDocument/2006/relationships/image" Target="../media/image380.png"/><Relationship Id="rId12" Type="http://schemas.openxmlformats.org/officeDocument/2006/relationships/customXml" Target="../ink/ink4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11" Type="http://schemas.openxmlformats.org/officeDocument/2006/relationships/image" Target="../media/image400.png"/><Relationship Id="rId5" Type="http://schemas.openxmlformats.org/officeDocument/2006/relationships/image" Target="../media/image45.png"/><Relationship Id="rId10" Type="http://schemas.openxmlformats.org/officeDocument/2006/relationships/customXml" Target="../ink/ink44.xml"/><Relationship Id="rId4" Type="http://schemas.openxmlformats.org/officeDocument/2006/relationships/image" Target="../media/image44.png"/><Relationship Id="rId9" Type="http://schemas.openxmlformats.org/officeDocument/2006/relationships/image" Target="../media/image39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0.xml"/><Relationship Id="rId18" Type="http://schemas.openxmlformats.org/officeDocument/2006/relationships/image" Target="../media/image52.png"/><Relationship Id="rId26" Type="http://schemas.openxmlformats.org/officeDocument/2006/relationships/image" Target="../media/image55.png"/><Relationship Id="rId39" Type="http://schemas.openxmlformats.org/officeDocument/2006/relationships/customXml" Target="../ink/ink64.xml"/><Relationship Id="rId21" Type="http://schemas.openxmlformats.org/officeDocument/2006/relationships/customXml" Target="../ink/ink54.xml"/><Relationship Id="rId34" Type="http://schemas.openxmlformats.org/officeDocument/2006/relationships/customXml" Target="../ink/ink61.xml"/><Relationship Id="rId42" Type="http://schemas.openxmlformats.org/officeDocument/2006/relationships/image" Target="../media/image59.png"/><Relationship Id="rId7" Type="http://schemas.openxmlformats.org/officeDocument/2006/relationships/customXml" Target="../ink/ink47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7.png"/><Relationship Id="rId29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11" Type="http://schemas.openxmlformats.org/officeDocument/2006/relationships/customXml" Target="../ink/ink49.xml"/><Relationship Id="rId24" Type="http://schemas.openxmlformats.org/officeDocument/2006/relationships/image" Target="../media/image54.png"/><Relationship Id="rId32" Type="http://schemas.openxmlformats.org/officeDocument/2006/relationships/image" Target="../media/image26.png"/><Relationship Id="rId37" Type="http://schemas.openxmlformats.org/officeDocument/2006/relationships/customXml" Target="../ink/ink63.xml"/><Relationship Id="rId40" Type="http://schemas.openxmlformats.org/officeDocument/2006/relationships/image" Target="../media/image58.png"/><Relationship Id="rId45" Type="http://schemas.openxmlformats.org/officeDocument/2006/relationships/image" Target="../media/image60.png"/><Relationship Id="rId5" Type="http://schemas.openxmlformats.org/officeDocument/2006/relationships/customXml" Target="../ink/ink46.xml"/><Relationship Id="rId15" Type="http://schemas.openxmlformats.org/officeDocument/2006/relationships/customXml" Target="../ink/ink51.xml"/><Relationship Id="rId23" Type="http://schemas.openxmlformats.org/officeDocument/2006/relationships/customXml" Target="../ink/ink55.xml"/><Relationship Id="rId28" Type="http://schemas.openxmlformats.org/officeDocument/2006/relationships/image" Target="../media/image24.png"/><Relationship Id="rId36" Type="http://schemas.openxmlformats.org/officeDocument/2006/relationships/image" Target="../media/image56.png"/><Relationship Id="rId10" Type="http://schemas.openxmlformats.org/officeDocument/2006/relationships/image" Target="../media/image49.png"/><Relationship Id="rId19" Type="http://schemas.openxmlformats.org/officeDocument/2006/relationships/customXml" Target="../ink/ink53.xml"/><Relationship Id="rId31" Type="http://schemas.openxmlformats.org/officeDocument/2006/relationships/customXml" Target="../ink/ink59.xml"/><Relationship Id="rId44" Type="http://schemas.openxmlformats.org/officeDocument/2006/relationships/customXml" Target="../ink/ink67.xml"/><Relationship Id="rId4" Type="http://schemas.openxmlformats.org/officeDocument/2006/relationships/image" Target="../media/image47.png"/><Relationship Id="rId9" Type="http://schemas.openxmlformats.org/officeDocument/2006/relationships/customXml" Target="../ink/ink48.xml"/><Relationship Id="rId14" Type="http://schemas.openxmlformats.org/officeDocument/2006/relationships/image" Target="../media/image51.png"/><Relationship Id="rId22" Type="http://schemas.openxmlformats.org/officeDocument/2006/relationships/image" Target="../media/image28.png"/><Relationship Id="rId27" Type="http://schemas.openxmlformats.org/officeDocument/2006/relationships/customXml" Target="../ink/ink57.xml"/><Relationship Id="rId30" Type="http://schemas.openxmlformats.org/officeDocument/2006/relationships/image" Target="../media/image25.png"/><Relationship Id="rId35" Type="http://schemas.openxmlformats.org/officeDocument/2006/relationships/customXml" Target="../ink/ink62.xml"/><Relationship Id="rId43" Type="http://schemas.openxmlformats.org/officeDocument/2006/relationships/customXml" Target="../ink/ink66.xml"/><Relationship Id="rId8" Type="http://schemas.openxmlformats.org/officeDocument/2006/relationships/image" Target="../media/image48.png"/><Relationship Id="rId3" Type="http://schemas.openxmlformats.org/officeDocument/2006/relationships/image" Target="../media/image46.png"/><Relationship Id="rId12" Type="http://schemas.openxmlformats.org/officeDocument/2006/relationships/image" Target="../media/image50.png"/><Relationship Id="rId17" Type="http://schemas.openxmlformats.org/officeDocument/2006/relationships/customXml" Target="../ink/ink52.xml"/><Relationship Id="rId25" Type="http://schemas.openxmlformats.org/officeDocument/2006/relationships/customXml" Target="../ink/ink56.xml"/><Relationship Id="rId33" Type="http://schemas.openxmlformats.org/officeDocument/2006/relationships/customXml" Target="../ink/ink60.xml"/><Relationship Id="rId38" Type="http://schemas.openxmlformats.org/officeDocument/2006/relationships/image" Target="../media/image57.png"/><Relationship Id="rId20" Type="http://schemas.openxmlformats.org/officeDocument/2006/relationships/image" Target="../media/image53.png"/><Relationship Id="rId41" Type="http://schemas.openxmlformats.org/officeDocument/2006/relationships/customXml" Target="../ink/ink6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pittmedneuro.com/synaptic.html" TargetMode="External"/><Relationship Id="rId3" Type="http://schemas.openxmlformats.org/officeDocument/2006/relationships/hyperlink" Target="https://www.physiologyweb.com/calculators/nernst_equation_calculator.html" TargetMode="External"/><Relationship Id="rId7" Type="http://schemas.openxmlformats.org/officeDocument/2006/relationships/hyperlink" Target="https://mrgreene09.github.io/computational-neuroscience-textbook/Ch4.html" TargetMode="External"/><Relationship Id="rId2" Type="http://schemas.openxmlformats.org/officeDocument/2006/relationships/hyperlink" Target="https://www.simplypsychology.org/myelin-sheath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urses.lumenlearning.com/wm-biology2/chapter/resting-membrane-potential/" TargetMode="External"/><Relationship Id="rId5" Type="http://schemas.openxmlformats.org/officeDocument/2006/relationships/hyperlink" Target="https://openbooks.lib.msu.edu/neuroscience/chapter/membrane-potential/" TargetMode="External"/><Relationship Id="rId4" Type="http://schemas.openxmlformats.org/officeDocument/2006/relationships/hyperlink" Target="https://www.physiologyweb.com/calculators/ghk_equation_calculator.html" TargetMode="External"/><Relationship Id="rId9" Type="http://schemas.openxmlformats.org/officeDocument/2006/relationships/hyperlink" Target="https://doi.org/10.1038/s41598-019-45446-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C71E4-72E0-6884-10D1-602EFC2C5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8914" y="893935"/>
            <a:ext cx="5364937" cy="3339390"/>
          </a:xfrm>
        </p:spPr>
        <p:txBody>
          <a:bodyPr anchor="ctr">
            <a:normAutofit/>
          </a:bodyPr>
          <a:lstStyle/>
          <a:p>
            <a:r>
              <a:rPr lang="en-US" sz="6000" dirty="0"/>
              <a:t>Neural Circuitry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11AAF-1358-F672-17E0-DEDF5CEF6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8915" y="4876803"/>
            <a:ext cx="5364936" cy="909848"/>
          </a:xfrm>
        </p:spPr>
        <p:txBody>
          <a:bodyPr anchor="t">
            <a:normAutofit/>
          </a:bodyPr>
          <a:lstStyle/>
          <a:p>
            <a:r>
              <a:rPr lang="en-US" dirty="0"/>
              <a:t>Nino Koci</a:t>
            </a:r>
          </a:p>
        </p:txBody>
      </p:sp>
      <p:pic>
        <p:nvPicPr>
          <p:cNvPr id="4" name="Picture 3" descr="Neuron system in 3D rendering">
            <a:extLst>
              <a:ext uri="{FF2B5EF4-FFF2-40B4-BE49-F238E27FC236}">
                <a16:creationId xmlns:a16="http://schemas.microsoft.com/office/drawing/2014/main" id="{EB1C8FC3-F654-8A98-F4D5-E87B34F47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65" r="16215" b="-1"/>
          <a:stretch/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2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8DCB7-E3BA-30A9-14E1-FAF0F99D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is a Neuron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2D1ED-7A83-7360-2CA1-1A6FA0E45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07051"/>
            <a:ext cx="3729414" cy="3786088"/>
          </a:xfrm>
        </p:spPr>
        <p:txBody>
          <a:bodyPr>
            <a:normAutofit/>
          </a:bodyPr>
          <a:lstStyle/>
          <a:p>
            <a:r>
              <a:rPr lang="en-US" dirty="0"/>
              <a:t>A type of cell that is specialized with sending  signals within the nervous system</a:t>
            </a:r>
          </a:p>
          <a:p>
            <a:r>
              <a:rPr lang="en-US" dirty="0"/>
              <a:t>Neurons have many shapes and sizes. However, all neurons contain specific structures that allow them to propagate signals 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diagram of a neuron">
            <a:extLst>
              <a:ext uri="{FF2B5EF4-FFF2-40B4-BE49-F238E27FC236}">
                <a16:creationId xmlns:a16="http://schemas.microsoft.com/office/drawing/2014/main" id="{0D47D166-4F6E-8288-3E12-20397DDA019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707" y="2535540"/>
            <a:ext cx="6421777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8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4E761-5D7E-F7EB-335E-28B6466A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Neuronal Properties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B008E-5775-43ED-2151-ED62DEB47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17232"/>
            <a:ext cx="5865341" cy="444076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Neurons are unique in that they maintain ion gradients</a:t>
            </a:r>
          </a:p>
          <a:p>
            <a:pPr lvl="1"/>
            <a:r>
              <a:rPr lang="en-US"/>
              <a:t>	High K</a:t>
            </a:r>
            <a:r>
              <a:rPr lang="en-US" baseline="30000"/>
              <a:t>+</a:t>
            </a:r>
            <a:r>
              <a:rPr lang="en-US"/>
              <a:t> and Cl</a:t>
            </a:r>
            <a:r>
              <a:rPr lang="en-US" baseline="30000"/>
              <a:t>-</a:t>
            </a:r>
            <a:r>
              <a:rPr lang="en-US"/>
              <a:t> inside, High Na</a:t>
            </a:r>
            <a:r>
              <a:rPr lang="en-US" baseline="30000"/>
              <a:t>+</a:t>
            </a:r>
            <a:r>
              <a:rPr lang="en-US"/>
              <a:t> outside </a:t>
            </a:r>
          </a:p>
          <a:p>
            <a:r>
              <a:rPr lang="en-US"/>
              <a:t> The cellular phospholipid bilayer separates these ions</a:t>
            </a:r>
          </a:p>
          <a:p>
            <a:pPr lvl="1"/>
            <a:r>
              <a:rPr lang="en-US"/>
              <a:t>Each ion has its potential that we can measure through the Nerst equation </a:t>
            </a:r>
          </a:p>
          <a:p>
            <a:pPr lvl="1"/>
            <a:r>
              <a:rPr lang="en-US"/>
              <a:t>This creates a membrane potential that can be measured through the Goldman equation </a:t>
            </a:r>
          </a:p>
          <a:p>
            <a:r>
              <a:rPr lang="en-US"/>
              <a:t>For these ions to diffuse and achieve equilibrium, they require the assistance of ion channels </a:t>
            </a:r>
          </a:p>
          <a:p>
            <a:pPr lvl="1"/>
            <a:r>
              <a:rPr lang="en-US"/>
              <a:t>These channels are voltage-gated and will only open once the membrane potential changes</a:t>
            </a:r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diagram of a cell membrane">
            <a:extLst>
              <a:ext uri="{FF2B5EF4-FFF2-40B4-BE49-F238E27FC236}">
                <a16:creationId xmlns:a16="http://schemas.microsoft.com/office/drawing/2014/main" id="{B1FAB7B8-04E5-8275-BE98-AD6287BC17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02"/>
          <a:stretch/>
        </p:blipFill>
        <p:spPr>
          <a:xfrm>
            <a:off x="6326661" y="2392072"/>
            <a:ext cx="5285736" cy="2179930"/>
          </a:xfrm>
          <a:prstGeom prst="rect">
            <a:avLst/>
          </a:prstGeom>
        </p:spPr>
      </p:pic>
      <p:pic>
        <p:nvPicPr>
          <p:cNvPr id="7" name="Picture 6" descr="A black text on a white background">
            <a:extLst>
              <a:ext uri="{FF2B5EF4-FFF2-40B4-BE49-F238E27FC236}">
                <a16:creationId xmlns:a16="http://schemas.microsoft.com/office/drawing/2014/main" id="{86659B27-9AC9-ECBF-B55A-991640FEAEA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379" y="5953125"/>
            <a:ext cx="5448300" cy="904875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9368B00-6CD5-8EF4-6819-40A5324C791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61" y="4795838"/>
            <a:ext cx="25431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7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64EB0-4591-053D-A120-AA9DA5737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Action Potentials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A777-95EA-89A5-52E2-D5716FED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27992"/>
            <a:ext cx="5901267" cy="4362275"/>
          </a:xfrm>
        </p:spPr>
        <p:txBody>
          <a:bodyPr>
            <a:normAutofit/>
          </a:bodyPr>
          <a:lstStyle/>
          <a:p>
            <a:r>
              <a:rPr lang="en-US" dirty="0"/>
              <a:t> Neurons propagate action potentials to send signals </a:t>
            </a:r>
          </a:p>
          <a:p>
            <a:r>
              <a:rPr lang="en-US" dirty="0"/>
              <a:t>Depolarization occurs as Na</a:t>
            </a:r>
            <a:r>
              <a:rPr lang="en-US" baseline="30000" dirty="0"/>
              <a:t>+</a:t>
            </a:r>
            <a:r>
              <a:rPr lang="en-US" dirty="0"/>
              <a:t> enters the cell</a:t>
            </a:r>
          </a:p>
          <a:p>
            <a:pPr lvl="1"/>
            <a:r>
              <a:rPr lang="en-US" dirty="0"/>
              <a:t>The membrane becomes more positive </a:t>
            </a:r>
          </a:p>
          <a:p>
            <a:r>
              <a:rPr lang="en-US" dirty="0"/>
              <a:t>At peak Na</a:t>
            </a:r>
            <a:r>
              <a:rPr lang="en-US" baseline="30000" dirty="0"/>
              <a:t>+</a:t>
            </a:r>
            <a:r>
              <a:rPr lang="en-US" dirty="0"/>
              <a:t> voltage-gated channels deactivate and K</a:t>
            </a:r>
            <a:r>
              <a:rPr lang="en-US" baseline="30000" dirty="0"/>
              <a:t>+</a:t>
            </a:r>
            <a:r>
              <a:rPr lang="en-US" dirty="0"/>
              <a:t> voltage-gated channels open</a:t>
            </a:r>
          </a:p>
          <a:p>
            <a:pPr lvl="1"/>
            <a:r>
              <a:rPr lang="en-US" sz="1700" i="1" dirty="0"/>
              <a:t>Na</a:t>
            </a:r>
            <a:r>
              <a:rPr lang="en-US" sz="1700" i="1" baseline="30000" dirty="0"/>
              <a:t>+</a:t>
            </a:r>
            <a:r>
              <a:rPr lang="en-US" sz="1700" i="1" dirty="0"/>
              <a:t> channels lock once the membrane potential is high</a:t>
            </a:r>
          </a:p>
          <a:p>
            <a:r>
              <a:rPr lang="en-US" dirty="0"/>
              <a:t>After the peak, the cell polarizes until it hyperpolarizes when the K</a:t>
            </a:r>
            <a:r>
              <a:rPr lang="en-US" baseline="30000" dirty="0"/>
              <a:t>+</a:t>
            </a:r>
            <a:r>
              <a:rPr lang="en-US" dirty="0"/>
              <a:t> exits the cell</a:t>
            </a:r>
          </a:p>
          <a:p>
            <a:r>
              <a:rPr lang="en-US" dirty="0"/>
              <a:t>Potential is re-established through the Na</a:t>
            </a:r>
            <a:r>
              <a:rPr lang="en-US" baseline="30000" dirty="0"/>
              <a:t>+</a:t>
            </a:r>
            <a:r>
              <a:rPr lang="en-US" dirty="0"/>
              <a:t>/K</a:t>
            </a:r>
            <a:r>
              <a:rPr lang="en-US" baseline="30000" dirty="0"/>
              <a:t>+</a:t>
            </a:r>
            <a:r>
              <a:rPr lang="en-US" dirty="0"/>
              <a:t> pump</a:t>
            </a:r>
          </a:p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diagram of a chart">
            <a:extLst>
              <a:ext uri="{FF2B5EF4-FFF2-40B4-BE49-F238E27FC236}">
                <a16:creationId xmlns:a16="http://schemas.microsoft.com/office/drawing/2014/main" id="{3EA41CBB-642A-1602-3B71-05FCDF4701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833" y="2774804"/>
            <a:ext cx="5477628" cy="3338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D8377B-1204-A291-EAD4-C75601C855DF}"/>
              </a:ext>
            </a:extLst>
          </p:cNvPr>
          <p:cNvSpPr txBox="1"/>
          <p:nvPr/>
        </p:nvSpPr>
        <p:spPr>
          <a:xfrm>
            <a:off x="9925907" y="4231191"/>
            <a:ext cx="2476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Depolarization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Repolarization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Hyperpolarization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BF1AAA-FFFC-6DBA-DEB0-D3BF12A0B5E2}"/>
                  </a:ext>
                </a:extLst>
              </p14:cNvPr>
              <p14:cNvContentPartPr/>
              <p14:nvPr/>
            </p14:nvContentPartPr>
            <p14:xfrm>
              <a:off x="7539070" y="3624400"/>
              <a:ext cx="95400" cy="113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BF1AAA-FFFC-6DBA-DEB0-D3BF12A0B5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2950" y="3618280"/>
                <a:ext cx="10764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4BEAD93-D05C-3C9C-5B23-C0C1187258B4}"/>
              </a:ext>
            </a:extLst>
          </p:cNvPr>
          <p:cNvGrpSpPr/>
          <p:nvPr/>
        </p:nvGrpSpPr>
        <p:grpSpPr>
          <a:xfrm rot="18611004">
            <a:off x="7759498" y="4676763"/>
            <a:ext cx="810720" cy="965880"/>
            <a:chOff x="7740670" y="3864880"/>
            <a:chExt cx="810720" cy="9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FD1B22-3525-C65F-CC67-A1F75AB0326F}"/>
                    </a:ext>
                  </a:extLst>
                </p14:cNvPr>
                <p14:cNvContentPartPr/>
                <p14:nvPr/>
              </p14:nvContentPartPr>
              <p14:xfrm>
                <a:off x="7740670" y="3864880"/>
                <a:ext cx="133560" cy="159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FD1B22-3525-C65F-CC67-A1F75AB032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4550" y="3858760"/>
                  <a:ext cx="145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E81C08-4858-9BBF-DBE3-4DF052446E98}"/>
                    </a:ext>
                  </a:extLst>
                </p14:cNvPr>
                <p14:cNvContentPartPr/>
                <p14:nvPr/>
              </p14:nvContentPartPr>
              <p14:xfrm>
                <a:off x="7909870" y="4066480"/>
                <a:ext cx="158040" cy="188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E81C08-4858-9BBF-DBE3-4DF052446E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03750" y="4060360"/>
                  <a:ext cx="170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770DE59-AE33-864A-ED7B-375090B1A6CD}"/>
                    </a:ext>
                  </a:extLst>
                </p14:cNvPr>
                <p14:cNvContentPartPr/>
                <p14:nvPr/>
              </p14:nvContentPartPr>
              <p14:xfrm>
                <a:off x="8125870" y="4323880"/>
                <a:ext cx="179640" cy="21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770DE59-AE33-864A-ED7B-375090B1A6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19750" y="4317760"/>
                  <a:ext cx="191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BD75D1-D805-6BA6-8100-DE1932AF77C1}"/>
                    </a:ext>
                  </a:extLst>
                </p14:cNvPr>
                <p14:cNvContentPartPr/>
                <p14:nvPr/>
              </p14:nvContentPartPr>
              <p14:xfrm>
                <a:off x="8346550" y="4586680"/>
                <a:ext cx="204840" cy="244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BD75D1-D805-6BA6-8100-DE1932AF77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40430" y="4580560"/>
                  <a:ext cx="21708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DEA09F1-644E-EC5E-FEB3-32B02C553FCF}"/>
                  </a:ext>
                </a:extLst>
              </p14:cNvPr>
              <p14:cNvContentPartPr/>
              <p14:nvPr/>
            </p14:nvContentPartPr>
            <p14:xfrm rot="18551557">
              <a:off x="8913913" y="5038992"/>
              <a:ext cx="225360" cy="268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DEA09F1-644E-EC5E-FEB3-32B02C553F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 rot="18551557">
                <a:off x="8907793" y="5032872"/>
                <a:ext cx="2376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D678C93-FF22-F1F8-6CBB-43862834DCFF}"/>
                  </a:ext>
                </a:extLst>
              </p14:cNvPr>
              <p14:cNvContentPartPr/>
              <p14:nvPr/>
            </p14:nvContentPartPr>
            <p14:xfrm rot="18693986">
              <a:off x="8532388" y="3694298"/>
              <a:ext cx="1153299" cy="1374356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D678C93-FF22-F1F8-6CBB-43862834DCF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18693986">
                <a:off x="8526269" y="3688179"/>
                <a:ext cx="1165538" cy="13865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E10E58B-3A45-4572-851B-4312B8AB4479}"/>
                  </a:ext>
                </a:extLst>
              </p14:cNvPr>
              <p14:cNvContentPartPr/>
              <p14:nvPr/>
            </p14:nvContentPartPr>
            <p14:xfrm rot="18299623">
              <a:off x="8839116" y="4630691"/>
              <a:ext cx="957600" cy="1141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E10E58B-3A45-4572-851B-4312B8AB447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 rot="18299623">
                <a:off x="8832996" y="4624571"/>
                <a:ext cx="969840" cy="11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A212773-E0A2-ACB4-AA16-E8BD713C6F21}"/>
                  </a:ext>
                </a:extLst>
              </p14:cNvPr>
              <p14:cNvContentPartPr/>
              <p14:nvPr/>
            </p14:nvContentPartPr>
            <p14:xfrm rot="18241872">
              <a:off x="8818228" y="4191526"/>
              <a:ext cx="957600" cy="1141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A212773-E0A2-ACB4-AA16-E8BD713C6F2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 rot="18241872">
                <a:off x="8812108" y="4185406"/>
                <a:ext cx="969840" cy="11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343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5E41F-961E-B90B-6597-E6E5B197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How does this Translate into Circuits?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C656-A1E1-DADC-9B1F-8AF1BCDAA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62892"/>
            <a:ext cx="5732718" cy="4258995"/>
          </a:xfrm>
        </p:spPr>
        <p:txBody>
          <a:bodyPr>
            <a:normAutofit/>
          </a:bodyPr>
          <a:lstStyle/>
          <a:p>
            <a:r>
              <a:rPr lang="en-US" dirty="0"/>
              <a:t>We can translate the neuronal properties into the same proprieties that a circuit would have</a:t>
            </a:r>
          </a:p>
          <a:p>
            <a:pPr lvl="1"/>
            <a:r>
              <a:rPr lang="en-US" dirty="0"/>
              <a:t>Voltage(V) is equivalent to the membrane potential, driving the energy in the membrane like a battery </a:t>
            </a:r>
          </a:p>
          <a:p>
            <a:pPr lvl="1"/>
            <a:r>
              <a:rPr lang="en-US" dirty="0"/>
              <a:t>Ion channels determine the flow of ions and can stand for resistance(R) or conductance (g=1/R)</a:t>
            </a:r>
          </a:p>
          <a:p>
            <a:pPr lvl="1"/>
            <a:r>
              <a:rPr lang="en-US" dirty="0"/>
              <a:t>Since the membrane separates the charges and acts like a capacitor, it can stand for capacitance(C)</a:t>
            </a:r>
          </a:p>
          <a:p>
            <a:pPr lvl="1"/>
            <a:r>
              <a:rPr lang="en-US" dirty="0"/>
              <a:t>Ionic flow stands for current(I)</a:t>
            </a:r>
          </a:p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18" name="Picture 17" descr="A diagram of a circuit">
            <a:extLst>
              <a:ext uri="{FF2B5EF4-FFF2-40B4-BE49-F238E27FC236}">
                <a16:creationId xmlns:a16="http://schemas.microsoft.com/office/drawing/2014/main" id="{B5DF679E-21B7-CA0B-B52C-2C8068EE43E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2600637"/>
            <a:ext cx="6394339" cy="30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5E41F-961E-B90B-6597-E6E5B197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Driving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EC656-A1E1-DADC-9B1F-8AF1BCDAA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82325"/>
            <a:ext cx="5337176" cy="2904913"/>
          </a:xfrm>
        </p:spPr>
        <p:txBody>
          <a:bodyPr>
            <a:normAutofit/>
          </a:bodyPr>
          <a:lstStyle/>
          <a:p>
            <a:r>
              <a:rPr lang="en-US" dirty="0"/>
              <a:t>Each ionic current(</a:t>
            </a:r>
            <a:r>
              <a:rPr lang="en-US" dirty="0" err="1"/>
              <a:t>I</a:t>
            </a:r>
            <a:r>
              <a:rPr lang="en-US" baseline="-25000" dirty="0" err="1"/>
              <a:t>ion</a:t>
            </a:r>
            <a:r>
              <a:rPr lang="en-US" dirty="0"/>
              <a:t>) is influenced by diffusion equilibrium (</a:t>
            </a:r>
            <a:r>
              <a:rPr lang="en-US" dirty="0" err="1"/>
              <a:t>E</a:t>
            </a:r>
            <a:r>
              <a:rPr lang="en-US" baseline="-25000" dirty="0" err="1"/>
              <a:t>ion</a:t>
            </a:r>
            <a:r>
              <a:rPr lang="en-US" dirty="0"/>
              <a:t>)and the membrane potential (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	Ohms law: I=V/R=</a:t>
            </a:r>
            <a:r>
              <a:rPr lang="en-US" dirty="0" err="1"/>
              <a:t>gV</a:t>
            </a:r>
            <a:r>
              <a:rPr lang="en-US" dirty="0"/>
              <a:t>	</a:t>
            </a:r>
            <a:r>
              <a:rPr lang="en-US" dirty="0" err="1"/>
              <a:t>I</a:t>
            </a:r>
            <a:r>
              <a:rPr lang="en-US" baseline="-25000" dirty="0" err="1"/>
              <a:t>ion</a:t>
            </a:r>
            <a:r>
              <a:rPr lang="en-US" dirty="0"/>
              <a:t>=</a:t>
            </a:r>
            <a:r>
              <a:rPr lang="en-US" dirty="0" err="1"/>
              <a:t>g</a:t>
            </a:r>
            <a:r>
              <a:rPr lang="en-US" baseline="-25000" dirty="0" err="1"/>
              <a:t>ion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endParaRPr lang="en-US" baseline="-25000" dirty="0"/>
          </a:p>
          <a:p>
            <a:pPr lvl="1"/>
            <a:r>
              <a:rPr lang="en-US" dirty="0"/>
              <a:t>	At equilibrium: </a:t>
            </a:r>
            <a:r>
              <a:rPr lang="en-US" dirty="0" err="1"/>
              <a:t>I</a:t>
            </a:r>
            <a:r>
              <a:rPr lang="en-US" baseline="-25000" dirty="0" err="1"/>
              <a:t>ion</a:t>
            </a:r>
            <a:r>
              <a:rPr lang="en-US" dirty="0"/>
              <a:t>=</a:t>
            </a:r>
            <a:r>
              <a:rPr lang="en-US" dirty="0" err="1"/>
              <a:t>g</a:t>
            </a:r>
            <a:r>
              <a:rPr lang="en-US" baseline="-25000" dirty="0" err="1"/>
              <a:t>ion</a:t>
            </a:r>
            <a:r>
              <a:rPr lang="en-US" dirty="0" err="1"/>
              <a:t>E</a:t>
            </a:r>
            <a:r>
              <a:rPr lang="en-US" baseline="-25000" dirty="0" err="1"/>
              <a:t>ion</a:t>
            </a:r>
            <a:endParaRPr lang="en-US" baseline="-25000" dirty="0"/>
          </a:p>
          <a:p>
            <a:pPr lvl="1"/>
            <a:r>
              <a:rPr lang="en-US" dirty="0"/>
              <a:t>	Combine: </a:t>
            </a:r>
            <a:r>
              <a:rPr lang="en-US" dirty="0" err="1"/>
              <a:t>I</a:t>
            </a:r>
            <a:r>
              <a:rPr lang="en-US" baseline="-25000" dirty="0" err="1"/>
              <a:t>ion</a:t>
            </a:r>
            <a:r>
              <a:rPr lang="en-US" dirty="0"/>
              <a:t>=(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 err="1"/>
              <a:t>-E</a:t>
            </a:r>
            <a:r>
              <a:rPr lang="en-US" baseline="-25000" dirty="0" err="1"/>
              <a:t>ion</a:t>
            </a:r>
            <a:r>
              <a:rPr lang="en-US" dirty="0"/>
              <a:t>)</a:t>
            </a:r>
            <a:r>
              <a:rPr lang="en-US" dirty="0" err="1"/>
              <a:t>g</a:t>
            </a:r>
            <a:r>
              <a:rPr lang="en-US" baseline="-25000" dirty="0" err="1"/>
              <a:t>ion</a:t>
            </a:r>
            <a:endParaRPr lang="en-US" baseline="-25000" dirty="0"/>
          </a:p>
          <a:p>
            <a:pPr lvl="1"/>
            <a:r>
              <a:rPr lang="en-US" dirty="0"/>
              <a:t>	   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51B1FC3-5409-56A0-E4EC-75330A2873F3}"/>
              </a:ext>
            </a:extLst>
          </p:cNvPr>
          <p:cNvSpPr/>
          <p:nvPr/>
        </p:nvSpPr>
        <p:spPr>
          <a:xfrm>
            <a:off x="3314748" y="3783497"/>
            <a:ext cx="300147" cy="1675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010B63-40FB-49D6-F27B-BB5D6BFD0464}"/>
              </a:ext>
            </a:extLst>
          </p:cNvPr>
          <p:cNvSpPr txBox="1">
            <a:spLocks/>
          </p:cNvSpPr>
          <p:nvPr/>
        </p:nvSpPr>
        <p:spPr>
          <a:xfrm>
            <a:off x="0" y="4878054"/>
            <a:ext cx="5337176" cy="2904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combination is the driving force of an ion</a:t>
            </a:r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5103E-16E9-A279-4D89-317541F85276}"/>
              </a:ext>
            </a:extLst>
          </p:cNvPr>
          <p:cNvSpPr txBox="1"/>
          <p:nvPr/>
        </p:nvSpPr>
        <p:spPr>
          <a:xfrm>
            <a:off x="10038120" y="3939640"/>
            <a:ext cx="166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baseline="-25000" dirty="0" err="1"/>
              <a:t>Na</a:t>
            </a:r>
            <a:r>
              <a:rPr lang="en-US" baseline="-25000" dirty="0"/>
              <a:t>+ </a:t>
            </a:r>
            <a:r>
              <a:rPr lang="en-US" dirty="0"/>
              <a:t>vs. 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/>
              <a:t> plot</a:t>
            </a:r>
            <a:endParaRPr lang="en-US" baseline="30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D85038-90D5-B747-1394-A6BF88FA56C5}"/>
              </a:ext>
            </a:extLst>
          </p:cNvPr>
          <p:cNvSpPr txBox="1"/>
          <p:nvPr/>
        </p:nvSpPr>
        <p:spPr>
          <a:xfrm>
            <a:off x="10038120" y="5961178"/>
            <a:ext cx="155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K+ </a:t>
            </a:r>
            <a:r>
              <a:rPr lang="en-US" dirty="0"/>
              <a:t>vs. 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/>
              <a:t> plot</a:t>
            </a:r>
            <a:endParaRPr lang="en-US" baseline="30000" dirty="0"/>
          </a:p>
        </p:txBody>
      </p:sp>
      <p:pic>
        <p:nvPicPr>
          <p:cNvPr id="9" name="Picture 8" descr="A graph of a function&#10;&#10;Description automatically generated">
            <a:extLst>
              <a:ext uri="{FF2B5EF4-FFF2-40B4-BE49-F238E27FC236}">
                <a16:creationId xmlns:a16="http://schemas.microsoft.com/office/drawing/2014/main" id="{9BD004A1-5EDA-394E-8076-4DF66193A2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71"/>
          <a:stretch/>
        </p:blipFill>
        <p:spPr>
          <a:xfrm>
            <a:off x="7171595" y="4850355"/>
            <a:ext cx="2582005" cy="1866418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1E4B0128-7C58-5C2B-2EF3-EEB5EB89D8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013" t="-306" r="24013" b="306"/>
          <a:stretch/>
        </p:blipFill>
        <p:spPr>
          <a:xfrm>
            <a:off x="6242051" y="2936095"/>
            <a:ext cx="3511550" cy="187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7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C9138-2C18-0688-0188-5692E329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Hodgkin &amp; Huxley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8A41-AE10-F740-2C48-A3603DCA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3430"/>
            <a:ext cx="5318150" cy="4087370"/>
          </a:xfrm>
        </p:spPr>
        <p:txBody>
          <a:bodyPr>
            <a:normAutofit/>
          </a:bodyPr>
          <a:lstStyle/>
          <a:p>
            <a:r>
              <a:rPr lang="en-US" dirty="0"/>
              <a:t>Tested the strength of the currents present in the giant squid axon through voltage clamping </a:t>
            </a:r>
          </a:p>
          <a:p>
            <a:r>
              <a:rPr lang="en-US" dirty="0"/>
              <a:t>They discovered that there is an initial interior Na</a:t>
            </a:r>
            <a:r>
              <a:rPr lang="en-US" baseline="30000" dirty="0"/>
              <a:t>+</a:t>
            </a:r>
            <a:r>
              <a:rPr lang="en-US" dirty="0"/>
              <a:t> current that is then followed by an exiting K</a:t>
            </a:r>
            <a:r>
              <a:rPr lang="en-US" baseline="30000" dirty="0"/>
              <a:t>+</a:t>
            </a:r>
            <a:r>
              <a:rPr lang="en-US" dirty="0"/>
              <a:t> current</a:t>
            </a:r>
          </a:p>
          <a:p>
            <a:r>
              <a:rPr lang="en-US" dirty="0"/>
              <a:t>Therefore, Na</a:t>
            </a:r>
            <a:r>
              <a:rPr lang="en-US" baseline="30000" dirty="0"/>
              <a:t>+</a:t>
            </a:r>
            <a:r>
              <a:rPr lang="en-US" dirty="0"/>
              <a:t> ions will begin to enter and depolarize the neuron until its deactivated</a:t>
            </a:r>
          </a:p>
          <a:p>
            <a:r>
              <a:rPr lang="en-US" dirty="0"/>
              <a:t> K</a:t>
            </a:r>
            <a:r>
              <a:rPr lang="en-US" baseline="30000" dirty="0"/>
              <a:t>+</a:t>
            </a:r>
            <a:r>
              <a:rPr lang="en-US" dirty="0"/>
              <a:t> ions leave following the opening of their voltage-gated channels</a:t>
            </a:r>
          </a:p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collage of a person&#10;&#10;Description automatically generated">
            <a:extLst>
              <a:ext uri="{FF2B5EF4-FFF2-40B4-BE49-F238E27FC236}">
                <a16:creationId xmlns:a16="http://schemas.microsoft.com/office/drawing/2014/main" id="{B6080C47-A6F9-7C88-592A-2A21BB3FC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023" y="2313430"/>
            <a:ext cx="2635383" cy="1853456"/>
          </a:xfrm>
          <a:prstGeom prst="rect">
            <a:avLst/>
          </a:prstGeom>
        </p:spPr>
      </p:pic>
      <p:pic>
        <p:nvPicPr>
          <p:cNvPr id="7" name="Picture 6" descr="Diagram of a diagram of a voltage circuit&#10;&#10;Description automatically generated with medium confidence">
            <a:extLst>
              <a:ext uri="{FF2B5EF4-FFF2-40B4-BE49-F238E27FC236}">
                <a16:creationId xmlns:a16="http://schemas.microsoft.com/office/drawing/2014/main" id="{B6F058A7-E1E9-FE96-1560-1881761EC0A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626" y="4372320"/>
            <a:ext cx="2635383" cy="2302550"/>
          </a:xfrm>
          <a:prstGeom prst="rect">
            <a:avLst/>
          </a:prstGeom>
        </p:spPr>
      </p:pic>
      <p:pic>
        <p:nvPicPr>
          <p:cNvPr id="11" name="Picture 10" descr="A graph of a function&#10;&#10;Description automatically generated">
            <a:extLst>
              <a:ext uri="{FF2B5EF4-FFF2-40B4-BE49-F238E27FC236}">
                <a16:creationId xmlns:a16="http://schemas.microsoft.com/office/drawing/2014/main" id="{77664342-3323-40D9-98A3-DD20DF7E95D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396" y="4666423"/>
            <a:ext cx="2930428" cy="193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25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F6046-8A9C-724F-F13B-C9F08283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 RC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4006E-707D-87E4-97EA-D45667FCD8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385310"/>
                <a:ext cx="7524750" cy="437109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Let’s consider the membrane as a RC circuit</a:t>
                </a:r>
              </a:p>
              <a:p>
                <a:r>
                  <a:rPr lang="en-US" dirty="0"/>
                  <a:t>We have the membrane as a capacitor(C), and ions will flow out due to the leakiness of the membrane(1/R</a:t>
                </a:r>
                <a:r>
                  <a:rPr lang="en-US" baseline="-25000" dirty="0"/>
                  <a:t>r</a:t>
                </a:r>
                <a:r>
                  <a:rPr lang="en-US" dirty="0"/>
                  <a:t>=g</a:t>
                </a:r>
                <a:r>
                  <a:rPr lang="en-US" baseline="-25000" dirty="0"/>
                  <a:t>r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We know that we will have three currents</a:t>
                </a:r>
              </a:p>
              <a:p>
                <a:pPr lvl="1"/>
                <a:r>
                  <a:rPr lang="en-US" dirty="0"/>
                  <a:t>Capacitive(I</a:t>
                </a:r>
                <a:r>
                  <a:rPr lang="en-US" baseline="-25000" dirty="0"/>
                  <a:t>C</a:t>
                </a:r>
                <a:r>
                  <a:rPr lang="en-US" dirty="0"/>
                  <a:t>) and Leak(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r</a:t>
                </a:r>
                <a:r>
                  <a:rPr lang="en-US" dirty="0"/>
                  <a:t>) leave, and Sodium(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Na</a:t>
                </a:r>
                <a:r>
                  <a:rPr lang="en-US" baseline="-25000" dirty="0"/>
                  <a:t>+</a:t>
                </a:r>
                <a:r>
                  <a:rPr lang="en-US" dirty="0"/>
                  <a:t>)goes into the cell        	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C</a:t>
                </a:r>
                <a:r>
                  <a:rPr lang="en-US" dirty="0" err="1"/>
                  <a:t>+I</a:t>
                </a:r>
                <a:r>
                  <a:rPr lang="en-US" baseline="-25000" dirty="0" err="1"/>
                  <a:t>r</a:t>
                </a:r>
                <a:r>
                  <a:rPr lang="en-US" dirty="0"/>
                  <a:t>= 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Na</a:t>
                </a:r>
                <a:endParaRPr lang="en-US" dirty="0"/>
              </a:p>
              <a:p>
                <a:r>
                  <a:rPr lang="en-US" dirty="0"/>
                  <a:t>Now, let’s calculate the potential when the driving current flows</a:t>
                </a:r>
              </a:p>
              <a:p>
                <a:pPr lvl="1"/>
                <a:r>
                  <a:rPr lang="en-US" dirty="0" err="1"/>
                  <a:t>I</a:t>
                </a:r>
                <a:r>
                  <a:rPr lang="en-US" baseline="-25000" dirty="0" err="1"/>
                  <a:t>Na</a:t>
                </a:r>
                <a:r>
                  <a:rPr lang="en-US" dirty="0"/>
                  <a:t>=C</a:t>
                </a:r>
                <a:r>
                  <a:rPr lang="en-US" baseline="-25000" dirty="0"/>
                  <a:t>m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)+V</a:t>
                </a:r>
                <a:r>
                  <a:rPr lang="en-US" baseline="-25000" dirty="0"/>
                  <a:t>m</a:t>
                </a:r>
                <a:r>
                  <a:rPr lang="en-US" dirty="0"/>
                  <a:t>g</a:t>
                </a:r>
                <a:r>
                  <a:rPr lang="en-US" baseline="-25000" dirty="0"/>
                  <a:t>r</a:t>
                </a:r>
                <a:r>
                  <a:rPr lang="en-US" dirty="0"/>
                  <a:t>	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Na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)+V</a:t>
                </a:r>
                <a:r>
                  <a:rPr lang="en-US" baseline="-25000" dirty="0"/>
                  <a:t>m </a:t>
                </a:r>
              </a:p>
              <a:p>
                <a:pPr lvl="1"/>
                <a:r>
                  <a:rPr lang="en-US" dirty="0"/>
                  <a:t>Assume steady state: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 =0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Na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=V</a:t>
                </a:r>
                <a:r>
                  <a:rPr lang="en-US" baseline="-25000" dirty="0"/>
                  <a:t>max</a:t>
                </a:r>
              </a:p>
              <a:p>
                <a:pPr lvl="1"/>
                <a:r>
                  <a:rPr lang="en-US" dirty="0"/>
                  <a:t>Substitute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:r>
                  <a:rPr lang="el-GR" dirty="0"/>
                  <a:t>τ</a:t>
                </a:r>
                <a:r>
                  <a:rPr lang="en-US" dirty="0"/>
                  <a:t> and solve for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 </a:t>
                </a:r>
              </a:p>
              <a:p>
                <a:pPr lvl="1"/>
                <a:r>
                  <a:rPr lang="en-US" dirty="0" err="1"/>
                  <a:t>V</a:t>
                </a:r>
                <a:r>
                  <a:rPr lang="en-US" baseline="-25000" dirty="0" err="1"/>
                  <a:t>m</a:t>
                </a:r>
                <a:r>
                  <a:rPr lang="en-US" dirty="0"/>
                  <a:t>(t)=V</a:t>
                </a:r>
                <a:r>
                  <a:rPr lang="en-US" baseline="-25000" dirty="0"/>
                  <a:t>max</a:t>
                </a:r>
                <a:r>
                  <a:rPr lang="en-US" dirty="0"/>
                  <a:t>[1-(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l-GR" i="0" dirty="0"/>
                          <m:t>τ</m:t>
                        </m:r>
                      </m:sup>
                    </m:sSup>
                  </m:oMath>
                </a14:m>
                <a:r>
                  <a:rPr lang="en-US" dirty="0"/>
                  <a:t>)](the capacitor is charging)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4006E-707D-87E4-97EA-D45667FCD8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85310"/>
                <a:ext cx="7524750" cy="4371090"/>
              </a:xfrm>
              <a:blipFill>
                <a:blip r:embed="rId3"/>
                <a:stretch>
                  <a:fillRect l="-567" t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88C439F-3FE6-813A-8529-C642E38B4924}"/>
              </a:ext>
            </a:extLst>
          </p:cNvPr>
          <p:cNvSpPr/>
          <p:nvPr/>
        </p:nvSpPr>
        <p:spPr>
          <a:xfrm>
            <a:off x="1983926" y="4811536"/>
            <a:ext cx="295724" cy="1922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04745E9-7325-5CD1-971C-B2B1E2E536FB}"/>
              </a:ext>
            </a:extLst>
          </p:cNvPr>
          <p:cNvSpPr/>
          <p:nvPr/>
        </p:nvSpPr>
        <p:spPr>
          <a:xfrm>
            <a:off x="3103531" y="5312898"/>
            <a:ext cx="276723" cy="1814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ircuit">
            <a:extLst>
              <a:ext uri="{FF2B5EF4-FFF2-40B4-BE49-F238E27FC236}">
                <a16:creationId xmlns:a16="http://schemas.microsoft.com/office/drawing/2014/main" id="{B3B6525C-4A4B-73D4-F627-ED90C376DE8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471" y="2438722"/>
            <a:ext cx="3044129" cy="30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21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F642-C3B0-0B22-2597-80AD2540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 RC Circuit(cont.)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BB51C-D34B-EC38-3ED2-22ED8253B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302760"/>
                <a:ext cx="6080126" cy="455524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Assume the ion flow is successful and there is now no more sodium flow(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Na</a:t>
                </a:r>
                <a:r>
                  <a:rPr lang="en-US" dirty="0"/>
                  <a:t>=0)</a:t>
                </a:r>
              </a:p>
              <a:p>
                <a:pPr lvl="1"/>
                <a:r>
                  <a:rPr lang="en-US" dirty="0"/>
                  <a:t>0=C</a:t>
                </a:r>
                <a:r>
                  <a:rPr lang="en-US" baseline="-25000" dirty="0"/>
                  <a:t>m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)+</a:t>
                </a:r>
                <a:r>
                  <a:rPr lang="en-US" dirty="0" err="1"/>
                  <a:t>V</a:t>
                </a:r>
                <a:r>
                  <a:rPr lang="en-US" baseline="-25000" dirty="0" err="1"/>
                  <a:t>m</a:t>
                </a:r>
                <a:r>
                  <a:rPr lang="en-US" dirty="0" err="1"/>
                  <a:t>g</a:t>
                </a:r>
                <a:r>
                  <a:rPr lang="en-US" baseline="-25000" dirty="0" err="1"/>
                  <a:t>r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aseline="-25000" dirty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)+V</a:t>
                </a:r>
                <a:r>
                  <a:rPr lang="en-US" baseline="-25000" dirty="0"/>
                  <a:t>m</a:t>
                </a:r>
              </a:p>
              <a:p>
                <a:pPr lvl="1"/>
                <a:r>
                  <a:rPr lang="en-US" dirty="0"/>
                  <a:t>Substitute C</a:t>
                </a:r>
                <a:r>
                  <a:rPr lang="en-US" baseline="-25000" dirty="0"/>
                  <a:t>m</a:t>
                </a:r>
                <a:r>
                  <a:rPr lang="en-US" dirty="0"/>
                  <a:t>/g</a:t>
                </a:r>
                <a:r>
                  <a:rPr lang="en-US" baseline="-25000" dirty="0"/>
                  <a:t>r</a:t>
                </a:r>
                <a:r>
                  <a:rPr lang="en-US" dirty="0"/>
                  <a:t> for </a:t>
                </a:r>
                <a:r>
                  <a:rPr lang="el-GR" dirty="0"/>
                  <a:t>τ</a:t>
                </a:r>
                <a:endParaRPr lang="en-US" dirty="0"/>
              </a:p>
              <a:p>
                <a:pPr lvl="1"/>
                <a:r>
                  <a:rPr lang="en-US" dirty="0"/>
                  <a:t>Solve for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     </a:t>
                </a:r>
                <a:r>
                  <a:rPr lang="en-US" dirty="0" err="1"/>
                  <a:t>V</a:t>
                </a:r>
                <a:r>
                  <a:rPr lang="en-US" baseline="-25000" dirty="0" err="1"/>
                  <a:t>m</a:t>
                </a:r>
                <a:r>
                  <a:rPr lang="en-US" dirty="0"/>
                  <a:t>(t)</a:t>
                </a:r>
                <a:r>
                  <a:rPr lang="en-US" i="0" dirty="0"/>
                  <a:t>= V</a:t>
                </a:r>
                <a:r>
                  <a:rPr lang="en-US" i="0" baseline="-25000" dirty="0"/>
                  <a:t>max</a:t>
                </a:r>
                <a:r>
                  <a:rPr lang="en-US" i="0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l-GR" i="0" dirty="0"/>
                          <m:t>τ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 dirty="0"/>
                  <a:t>], the capacitor is discharging </a:t>
                </a:r>
              </a:p>
              <a:p>
                <a:r>
                  <a:rPr lang="en-US" dirty="0"/>
                  <a:t>The </a:t>
                </a:r>
                <a:r>
                  <a:rPr lang="el-GR" i="0" dirty="0"/>
                  <a:t>τ</a:t>
                </a:r>
                <a:r>
                  <a:rPr lang="en-US" dirty="0"/>
                  <a:t> constant will be the innate time factor that will determine how long the membrane potential can increase, or decay while maintaining </a:t>
                </a:r>
                <a:r>
                  <a:rPr lang="en-US"/>
                  <a:t>its potency</a:t>
                </a:r>
                <a:endParaRPr lang="en-US" dirty="0"/>
              </a:p>
              <a:p>
                <a:pPr lvl="1"/>
                <a:r>
                  <a:rPr lang="en-US" dirty="0"/>
                  <a:t>In charging when t=</a:t>
                </a:r>
                <a:r>
                  <a:rPr lang="el-GR" dirty="0"/>
                  <a:t>τ</a:t>
                </a:r>
                <a:r>
                  <a:rPr lang="en-US" dirty="0"/>
                  <a:t>, V</a:t>
                </a:r>
                <a:r>
                  <a:rPr lang="en-US" baseline="-25000" dirty="0"/>
                  <a:t>0</a:t>
                </a:r>
                <a:r>
                  <a:rPr lang="en-US" dirty="0"/>
                  <a:t> reaches to 63% of V</a:t>
                </a:r>
                <a:r>
                  <a:rPr lang="en-US" baseline="-25000" dirty="0"/>
                  <a:t>max</a:t>
                </a:r>
                <a:endParaRPr lang="en-US" dirty="0"/>
              </a:p>
              <a:p>
                <a:pPr lvl="1"/>
                <a:r>
                  <a:rPr lang="en-US" dirty="0"/>
                  <a:t>In discharging when t=</a:t>
                </a:r>
                <a:r>
                  <a:rPr lang="el-GR" dirty="0"/>
                  <a:t>τ</a:t>
                </a:r>
                <a:r>
                  <a:rPr lang="en-US" dirty="0"/>
                  <a:t> , V</a:t>
                </a:r>
                <a:r>
                  <a:rPr lang="en-US" baseline="-25000" dirty="0"/>
                  <a:t>max </a:t>
                </a:r>
                <a:r>
                  <a:rPr lang="en-US" dirty="0"/>
                  <a:t>decays to 37% </a:t>
                </a:r>
              </a:p>
              <a:p>
                <a:pPr lvl="1"/>
                <a:endParaRPr lang="en-US" dirty="0"/>
              </a:p>
              <a:p>
                <a:endParaRPr lang="en-US" i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BB51C-D34B-EC38-3ED2-22ED8253B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02760"/>
                <a:ext cx="6080126" cy="4555240"/>
              </a:xfrm>
              <a:blipFill>
                <a:blip r:embed="rId3"/>
                <a:stretch>
                  <a:fillRect l="-903" t="-669" r="-1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4041E47-8B26-5767-8ED4-430EFB24CE5F}"/>
              </a:ext>
            </a:extLst>
          </p:cNvPr>
          <p:cNvSpPr/>
          <p:nvPr/>
        </p:nvSpPr>
        <p:spPr>
          <a:xfrm>
            <a:off x="1649439" y="4296367"/>
            <a:ext cx="205973" cy="15355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line graph with numbers&#10;&#10;Description automatically generated">
            <a:extLst>
              <a:ext uri="{FF2B5EF4-FFF2-40B4-BE49-F238E27FC236}">
                <a16:creationId xmlns:a16="http://schemas.microsoft.com/office/drawing/2014/main" id="{9A4FE5AF-821B-3076-9EA7-C05B86FC7B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176" y="3282859"/>
            <a:ext cx="5861785" cy="21423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FB9259-0B88-0262-B1BD-250BC726F873}"/>
              </a:ext>
            </a:extLst>
          </p:cNvPr>
          <p:cNvSpPr txBox="1"/>
          <p:nvPr/>
        </p:nvSpPr>
        <p:spPr>
          <a:xfrm>
            <a:off x="6035249" y="3135320"/>
            <a:ext cx="497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V</a:t>
            </a:r>
            <a:r>
              <a:rPr lang="en-US" sz="1400" baseline="-25000" dirty="0" err="1"/>
              <a:t>m</a:t>
            </a:r>
            <a:endParaRPr lang="en-US" sz="1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2B812E-5D67-2956-8E92-A819FE8FB84E}"/>
              </a:ext>
            </a:extLst>
          </p:cNvPr>
          <p:cNvSpPr txBox="1"/>
          <p:nvPr/>
        </p:nvSpPr>
        <p:spPr>
          <a:xfrm>
            <a:off x="11679420" y="5013701"/>
            <a:ext cx="62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</a:t>
            </a:r>
            <a:r>
              <a:rPr lang="en-US" sz="1400" dirty="0" err="1"/>
              <a:t>ms</a:t>
            </a:r>
            <a:r>
              <a:rPr lang="en-US" sz="1400" dirty="0"/>
              <a:t>)</a:t>
            </a:r>
            <a:endParaRPr lang="en-US" sz="14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F07372-D459-D09D-850A-1DDFD2233E42}"/>
              </a:ext>
            </a:extLst>
          </p:cNvPr>
          <p:cNvSpPr txBox="1"/>
          <p:nvPr/>
        </p:nvSpPr>
        <p:spPr>
          <a:xfrm>
            <a:off x="7169942" y="2937165"/>
            <a:ext cx="450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/>
              <a:t> vs. time(t)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6A0F35-0C5E-AA96-2DB1-D3D0B17B9964}"/>
              </a:ext>
            </a:extLst>
          </p:cNvPr>
          <p:cNvGrpSpPr/>
          <p:nvPr/>
        </p:nvGrpSpPr>
        <p:grpSpPr>
          <a:xfrm>
            <a:off x="6184800" y="4043437"/>
            <a:ext cx="813600" cy="360"/>
            <a:chOff x="7454800" y="5647900"/>
            <a:chExt cx="813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50A14B-BBD9-03AB-BA26-D226963272B3}"/>
                    </a:ext>
                  </a:extLst>
                </p14:cNvPr>
                <p14:cNvContentPartPr/>
                <p14:nvPr/>
              </p14:nvContentPartPr>
              <p14:xfrm>
                <a:off x="7454800" y="5647900"/>
                <a:ext cx="1501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50A14B-BBD9-03AB-BA26-D226963272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8680" y="5641780"/>
                  <a:ext cx="162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23D843-53C9-E2F4-B00E-D692B42DD6DF}"/>
                    </a:ext>
                  </a:extLst>
                </p14:cNvPr>
                <p14:cNvContentPartPr/>
                <p14:nvPr/>
              </p14:nvContentPartPr>
              <p14:xfrm>
                <a:off x="7680160" y="5647900"/>
                <a:ext cx="14112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23D843-53C9-E2F4-B00E-D692B42DD6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4040" y="5641780"/>
                  <a:ext cx="153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9ACA82-0B0C-B944-A7C7-5D2CF63D6293}"/>
                    </a:ext>
                  </a:extLst>
                </p14:cNvPr>
                <p14:cNvContentPartPr/>
                <p14:nvPr/>
              </p14:nvContentPartPr>
              <p14:xfrm>
                <a:off x="7892920" y="5647900"/>
                <a:ext cx="7452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9ACA82-0B0C-B944-A7C7-5D2CF63D62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6800" y="5641780"/>
                  <a:ext cx="8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E419F4B-08D2-2215-B1B0-3C159D91B509}"/>
                    </a:ext>
                  </a:extLst>
                </p14:cNvPr>
                <p14:cNvContentPartPr/>
                <p14:nvPr/>
              </p14:nvContentPartPr>
              <p14:xfrm>
                <a:off x="8108560" y="5647900"/>
                <a:ext cx="1598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E419F4B-08D2-2215-B1B0-3C159D91B50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2440" y="5641780"/>
                  <a:ext cx="172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FB8DF66-2F1E-C451-DC88-931532E4C336}"/>
                    </a:ext>
                  </a:extLst>
                </p14:cNvPr>
                <p14:cNvContentPartPr/>
                <p14:nvPr/>
              </p14:nvContentPartPr>
              <p14:xfrm>
                <a:off x="7940440" y="5647900"/>
                <a:ext cx="885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FB8DF66-2F1E-C451-DC88-931532E4C33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34320" y="5641780"/>
                  <a:ext cx="1008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BF41B9-F028-8D61-509E-872DBDCE0B90}"/>
              </a:ext>
            </a:extLst>
          </p:cNvPr>
          <p:cNvGrpSpPr/>
          <p:nvPr/>
        </p:nvGrpSpPr>
        <p:grpSpPr>
          <a:xfrm>
            <a:off x="7107667" y="4043437"/>
            <a:ext cx="813600" cy="360"/>
            <a:chOff x="7454800" y="5647900"/>
            <a:chExt cx="813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305D3C-4E87-B792-2119-12C81F7E02CA}"/>
                    </a:ext>
                  </a:extLst>
                </p14:cNvPr>
                <p14:cNvContentPartPr/>
                <p14:nvPr/>
              </p14:nvContentPartPr>
              <p14:xfrm>
                <a:off x="7454800" y="5647900"/>
                <a:ext cx="15012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305D3C-4E87-B792-2119-12C81F7E02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8680" y="5641780"/>
                  <a:ext cx="162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B125B5-61C0-2B27-02F0-1496409FC81F}"/>
                    </a:ext>
                  </a:extLst>
                </p14:cNvPr>
                <p14:cNvContentPartPr/>
                <p14:nvPr/>
              </p14:nvContentPartPr>
              <p14:xfrm>
                <a:off x="7680160" y="5647900"/>
                <a:ext cx="14112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B125B5-61C0-2B27-02F0-1496409FC8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4040" y="5641780"/>
                  <a:ext cx="153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E4FDDC-7F3A-1607-F452-ACBBC0FB65CA}"/>
                    </a:ext>
                  </a:extLst>
                </p14:cNvPr>
                <p14:cNvContentPartPr/>
                <p14:nvPr/>
              </p14:nvContentPartPr>
              <p14:xfrm>
                <a:off x="7892920" y="5647900"/>
                <a:ext cx="7452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E4FDDC-7F3A-1607-F452-ACBBC0FB65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6800" y="5641780"/>
                  <a:ext cx="8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FED1B1-8489-8C9D-3455-F0561D7BF758}"/>
                    </a:ext>
                  </a:extLst>
                </p14:cNvPr>
                <p14:cNvContentPartPr/>
                <p14:nvPr/>
              </p14:nvContentPartPr>
              <p14:xfrm>
                <a:off x="8108560" y="5647900"/>
                <a:ext cx="15984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FED1B1-8489-8C9D-3455-F0561D7BF75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2440" y="5641780"/>
                  <a:ext cx="172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B36A9E-3C19-5D3E-801B-68AA1B5D7FCF}"/>
                    </a:ext>
                  </a:extLst>
                </p14:cNvPr>
                <p14:cNvContentPartPr/>
                <p14:nvPr/>
              </p14:nvContentPartPr>
              <p14:xfrm>
                <a:off x="7940440" y="5647900"/>
                <a:ext cx="885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B36A9E-3C19-5D3E-801B-68AA1B5D7FC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34320" y="5641780"/>
                  <a:ext cx="1008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5818BD-EE8C-3009-98E4-38CE1FD28BB4}"/>
              </a:ext>
            </a:extLst>
          </p:cNvPr>
          <p:cNvGrpSpPr/>
          <p:nvPr/>
        </p:nvGrpSpPr>
        <p:grpSpPr>
          <a:xfrm>
            <a:off x="9309000" y="4708100"/>
            <a:ext cx="813600" cy="360"/>
            <a:chOff x="7454800" y="5647900"/>
            <a:chExt cx="813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27E24C-EE51-9DC1-D97F-9E6B95CAE301}"/>
                    </a:ext>
                  </a:extLst>
                </p14:cNvPr>
                <p14:cNvContentPartPr/>
                <p14:nvPr/>
              </p14:nvContentPartPr>
              <p14:xfrm>
                <a:off x="7454800" y="5647900"/>
                <a:ext cx="15012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27E24C-EE51-9DC1-D97F-9E6B95CAE30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8680" y="5641780"/>
                  <a:ext cx="162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BD3A6D0-8507-9FE9-DD38-1548EFEE4CCC}"/>
                    </a:ext>
                  </a:extLst>
                </p14:cNvPr>
                <p14:cNvContentPartPr/>
                <p14:nvPr/>
              </p14:nvContentPartPr>
              <p14:xfrm>
                <a:off x="7680160" y="5647900"/>
                <a:ext cx="14112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BD3A6D0-8507-9FE9-DD38-1548EFEE4C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4040" y="5641780"/>
                  <a:ext cx="153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D374EA-9BE2-C124-230E-703DF28FDC2D}"/>
                    </a:ext>
                  </a:extLst>
                </p14:cNvPr>
                <p14:cNvContentPartPr/>
                <p14:nvPr/>
              </p14:nvContentPartPr>
              <p14:xfrm>
                <a:off x="7892920" y="5647900"/>
                <a:ext cx="74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D374EA-9BE2-C124-230E-703DF28FDC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6800" y="5641780"/>
                  <a:ext cx="8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DC3602D-7259-8702-76D5-87ACCB5945D7}"/>
                    </a:ext>
                  </a:extLst>
                </p14:cNvPr>
                <p14:cNvContentPartPr/>
                <p14:nvPr/>
              </p14:nvContentPartPr>
              <p14:xfrm>
                <a:off x="8108560" y="5647900"/>
                <a:ext cx="15984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DC3602D-7259-8702-76D5-87ACCB5945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2440" y="5641780"/>
                  <a:ext cx="172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7EF96B-2BDC-566C-B59D-EF8EE1F3D317}"/>
                    </a:ext>
                  </a:extLst>
                </p14:cNvPr>
                <p14:cNvContentPartPr/>
                <p14:nvPr/>
              </p14:nvContentPartPr>
              <p14:xfrm>
                <a:off x="7940440" y="5647900"/>
                <a:ext cx="885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7EF96B-2BDC-566C-B59D-EF8EE1F3D3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34320" y="5641780"/>
                  <a:ext cx="1008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A28EE9-2DB1-8F8A-DC35-BE906136FCA1}"/>
              </a:ext>
            </a:extLst>
          </p:cNvPr>
          <p:cNvGrpSpPr/>
          <p:nvPr/>
        </p:nvGrpSpPr>
        <p:grpSpPr>
          <a:xfrm>
            <a:off x="10249439" y="4708100"/>
            <a:ext cx="813600" cy="360"/>
            <a:chOff x="7454800" y="5647900"/>
            <a:chExt cx="813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496A0DC-0DEF-99E4-7741-592817D73913}"/>
                    </a:ext>
                  </a:extLst>
                </p14:cNvPr>
                <p14:cNvContentPartPr/>
                <p14:nvPr/>
              </p14:nvContentPartPr>
              <p14:xfrm>
                <a:off x="7454800" y="5647900"/>
                <a:ext cx="15012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496A0DC-0DEF-99E4-7741-592817D7391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8680" y="5641780"/>
                  <a:ext cx="162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5AAD13-72AA-AEF0-ACFD-918C1357501B}"/>
                    </a:ext>
                  </a:extLst>
                </p14:cNvPr>
                <p14:cNvContentPartPr/>
                <p14:nvPr/>
              </p14:nvContentPartPr>
              <p14:xfrm>
                <a:off x="7680160" y="5647900"/>
                <a:ext cx="14112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5AAD13-72AA-AEF0-ACFD-918C135750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4040" y="5641780"/>
                  <a:ext cx="153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84C8D4-0483-3D56-6F27-D4AAB491DF3E}"/>
                    </a:ext>
                  </a:extLst>
                </p14:cNvPr>
                <p14:cNvContentPartPr/>
                <p14:nvPr/>
              </p14:nvContentPartPr>
              <p14:xfrm>
                <a:off x="7892920" y="5647900"/>
                <a:ext cx="7452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84C8D4-0483-3D56-6F27-D4AAB491DF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6800" y="5641780"/>
                  <a:ext cx="8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D48EEE-1BEF-AE25-8224-4ABAAB91C9CC}"/>
                    </a:ext>
                  </a:extLst>
                </p14:cNvPr>
                <p14:cNvContentPartPr/>
                <p14:nvPr/>
              </p14:nvContentPartPr>
              <p14:xfrm>
                <a:off x="8108560" y="5647900"/>
                <a:ext cx="15984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D48EEE-1BEF-AE25-8224-4ABAAB91C9C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02440" y="5641780"/>
                  <a:ext cx="172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C728F4B-622F-0EA0-23BB-2A9C9F342121}"/>
                    </a:ext>
                  </a:extLst>
                </p14:cNvPr>
                <p14:cNvContentPartPr/>
                <p14:nvPr/>
              </p14:nvContentPartPr>
              <p14:xfrm>
                <a:off x="7940440" y="5647900"/>
                <a:ext cx="885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C728F4B-622F-0EA0-23BB-2A9C9F3421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34320" y="5641780"/>
                  <a:ext cx="1008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A701E0F-78AA-C0B4-FCB8-A49A71AF06B5}"/>
              </a:ext>
            </a:extLst>
          </p:cNvPr>
          <p:cNvSpPr txBox="1"/>
          <p:nvPr/>
        </p:nvSpPr>
        <p:spPr>
          <a:xfrm>
            <a:off x="7318710" y="4075920"/>
            <a:ext cx="140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63% charge, </a:t>
            </a:r>
            <a:r>
              <a:rPr lang="en-US" sz="900" dirty="0"/>
              <a:t>t=</a:t>
            </a:r>
            <a:r>
              <a:rPr lang="el-GR" sz="900" dirty="0"/>
              <a:t>τ</a:t>
            </a:r>
            <a:r>
              <a:rPr lang="en-US" sz="800" dirty="0"/>
              <a:t> </a:t>
            </a:r>
            <a:endParaRPr lang="en-US" sz="800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0A3949-D70C-0EBB-BAFD-553A3391F45E}"/>
              </a:ext>
            </a:extLst>
          </p:cNvPr>
          <p:cNvSpPr txBox="1"/>
          <p:nvPr/>
        </p:nvSpPr>
        <p:spPr>
          <a:xfrm>
            <a:off x="10457495" y="4464964"/>
            <a:ext cx="140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37% decay, </a:t>
            </a:r>
            <a:r>
              <a:rPr lang="en-US" sz="900" dirty="0"/>
              <a:t>t=</a:t>
            </a:r>
            <a:r>
              <a:rPr lang="el-GR" sz="900" dirty="0"/>
              <a:t>τ</a:t>
            </a:r>
            <a:r>
              <a:rPr lang="en-US" sz="800" dirty="0"/>
              <a:t> </a:t>
            </a:r>
            <a:endParaRPr lang="en-US" sz="800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47AA59-254C-267E-71DB-F1DBC673DB95}"/>
                  </a:ext>
                </a:extLst>
              </p14:cNvPr>
              <p14:cNvContentPartPr/>
              <p14:nvPr/>
            </p14:nvContentPartPr>
            <p14:xfrm>
              <a:off x="9060640" y="3332120"/>
              <a:ext cx="360" cy="198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47AA59-254C-267E-71DB-F1DBC673DB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54520" y="3326000"/>
                <a:ext cx="126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035C22C-594E-268C-EE64-DBF22C2635E8}"/>
                  </a:ext>
                </a:extLst>
              </p14:cNvPr>
              <p14:cNvContentPartPr/>
              <p14:nvPr/>
            </p14:nvContentPartPr>
            <p14:xfrm>
              <a:off x="9060640" y="3723440"/>
              <a:ext cx="360" cy="280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035C22C-594E-268C-EE64-DBF22C2635E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054520" y="3717320"/>
                <a:ext cx="1260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573EB94-9FEC-F2B5-B758-4269FB917CCD}"/>
                  </a:ext>
                </a:extLst>
              </p14:cNvPr>
              <p14:cNvContentPartPr/>
              <p14:nvPr/>
            </p14:nvContentPartPr>
            <p14:xfrm>
              <a:off x="9060640" y="4139960"/>
              <a:ext cx="360" cy="1278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573EB94-9FEC-F2B5-B758-4269FB917CC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54520" y="4133840"/>
                <a:ext cx="126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674DB45-9104-C011-CD64-ED7803D69C6B}"/>
                  </a:ext>
                </a:extLst>
              </p14:cNvPr>
              <p14:cNvContentPartPr/>
              <p14:nvPr/>
            </p14:nvContentPartPr>
            <p14:xfrm>
              <a:off x="9060640" y="4449920"/>
              <a:ext cx="360" cy="330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674DB45-9104-C011-CD64-ED7803D69C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54520" y="4443800"/>
                <a:ext cx="126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267C1E6-194B-B016-8E2E-4C82A1FF0B59}"/>
                  </a:ext>
                </a:extLst>
              </p14:cNvPr>
              <p14:cNvContentPartPr/>
              <p14:nvPr/>
            </p14:nvContentPartPr>
            <p14:xfrm>
              <a:off x="9060640" y="4927280"/>
              <a:ext cx="360" cy="1947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267C1E6-194B-B016-8E2E-4C82A1FF0B5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54520" y="4921160"/>
                <a:ext cx="126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7BABFFA-B579-BB34-0745-02AF8C72C285}"/>
                  </a:ext>
                </a:extLst>
              </p14:cNvPr>
              <p14:cNvContentPartPr/>
              <p14:nvPr/>
            </p14:nvContentPartPr>
            <p14:xfrm>
              <a:off x="9060640" y="5359280"/>
              <a:ext cx="360" cy="231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7BABFFA-B579-BB34-0745-02AF8C72C28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54520" y="5353160"/>
                <a:ext cx="12600" cy="2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956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68907-CE90-6AF5-6028-D1EE72E2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Neuron as a Cable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36A710-C0A8-2A1D-F138-D95B5BD2A7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2313430"/>
                <a:ext cx="6994113" cy="454457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i="1" dirty="0"/>
                  <a:t>Let’s consider the neuron a cylindrical cable with multiple connected RC circuits, with the cytoplasm acting as a buffer that offers resistance </a:t>
                </a:r>
              </a:p>
              <a:p>
                <a:r>
                  <a:rPr lang="en-US" i="1" dirty="0"/>
                  <a:t>Let’s derive an equation based on a junction(Nelson eq.12.6)</a:t>
                </a:r>
              </a:p>
              <a:p>
                <a:pPr lvl="1"/>
                <a:r>
                  <a:rPr lang="en-US" dirty="0"/>
                  <a:t>I</a:t>
                </a:r>
                <a:r>
                  <a:rPr lang="en-US" baseline="-25000" dirty="0"/>
                  <a:t>x</a:t>
                </a:r>
                <a:r>
                  <a:rPr lang="en-US" dirty="0"/>
                  <a:t>(x) − I</a:t>
                </a:r>
                <a:r>
                  <a:rPr lang="en-US" baseline="-25000" dirty="0"/>
                  <a:t>x</a:t>
                </a:r>
                <a:r>
                  <a:rPr lang="en-US" dirty="0"/>
                  <a:t>(</a:t>
                </a:r>
                <a:r>
                  <a:rPr lang="en-US" dirty="0" err="1"/>
                  <a:t>x+dx</a:t>
                </a:r>
                <a:r>
                  <a:rPr lang="en-US" dirty="0"/>
                  <a:t>) = − </a:t>
                </a:r>
                <a:r>
                  <a:rPr lang="en-US" dirty="0" err="1"/>
                  <a:t>dI</a:t>
                </a:r>
                <a:r>
                  <a:rPr lang="en-US" dirty="0"/>
                  <a:t>= 2</a:t>
                </a:r>
                <a:r>
                  <a:rPr lang="el-GR" dirty="0"/>
                  <a:t>π</a:t>
                </a:r>
                <a:r>
                  <a:rPr lang="en-US" dirty="0"/>
                  <a:t>r(</a:t>
                </a:r>
                <a:r>
                  <a:rPr lang="en-US" dirty="0" err="1"/>
                  <a:t>j</a:t>
                </a:r>
                <a:r>
                  <a:rPr lang="en-US" baseline="-25000" dirty="0" err="1"/>
                  <a:t>q,r</a:t>
                </a:r>
                <a:r>
                  <a:rPr lang="en-US" dirty="0"/>
                  <a:t>(x) +C</a:t>
                </a:r>
                <a:r>
                  <a:rPr lang="en-US" baseline="-25000" dirty="0"/>
                  <a:t>m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)) dx</a:t>
                </a:r>
              </a:p>
              <a:p>
                <a:r>
                  <a:rPr lang="en-US" i="1" dirty="0"/>
                  <a:t>Let’s solve the equation and assume </a:t>
                </a:r>
                <a:r>
                  <a:rPr lang="en-US" i="1" dirty="0" err="1"/>
                  <a:t>j</a:t>
                </a:r>
                <a:r>
                  <a:rPr lang="en-US" i="1" baseline="-25000" dirty="0" err="1"/>
                  <a:t>q,r</a:t>
                </a:r>
                <a:r>
                  <a:rPr lang="en-US" i="1" dirty="0"/>
                  <a:t>=g</a:t>
                </a:r>
                <a:r>
                  <a:rPr lang="en-US" i="1" baseline="-25000" dirty="0"/>
                  <a:t>r</a:t>
                </a:r>
                <a:r>
                  <a:rPr lang="en-US" i="1" dirty="0"/>
                  <a:t>(V</a:t>
                </a:r>
                <a:r>
                  <a:rPr lang="en-US" i="1" baseline="-25000" dirty="0"/>
                  <a:t>m</a:t>
                </a:r>
                <a:r>
                  <a:rPr lang="en-US" i="1" dirty="0"/>
                  <a:t>-V</a:t>
                </a:r>
                <a:r>
                  <a:rPr lang="en-US" i="1" baseline="-25000" dirty="0"/>
                  <a:t>0</a:t>
                </a:r>
                <a:r>
                  <a:rPr lang="en-US" i="1" dirty="0"/>
                  <a:t>)</a:t>
                </a:r>
              </a:p>
              <a:p>
                <a:pPr lvl="1"/>
                <a:r>
                  <a:rPr lang="en-US" sz="1800" u="none" strike="noStrike" baseline="0" dirty="0">
                    <a:solidFill>
                      <a:srgbClr val="231F20"/>
                    </a:solidFill>
                  </a:rPr>
                  <a:t>r</a:t>
                </a:r>
                <a:r>
                  <a:rPr lang="en-US" sz="1800" u="none" strike="noStrike" baseline="30000" dirty="0">
                    <a:solidFill>
                      <a:srgbClr val="231F20"/>
                    </a:solidFill>
                  </a:rPr>
                  <a:t>2</a:t>
                </a:r>
                <a:r>
                  <a:rPr lang="el-GR" dirty="0"/>
                  <a:t>πκ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)=</a:t>
                </a:r>
                <a:r>
                  <a:rPr lang="el-GR" dirty="0"/>
                  <a:t>2π</a:t>
                </a:r>
                <a:r>
                  <a:rPr lang="en-US" dirty="0"/>
                  <a:t>r(g</a:t>
                </a:r>
                <a:r>
                  <a:rPr lang="en-US" baseline="-25000" dirty="0"/>
                  <a:t>r</a:t>
                </a:r>
                <a:r>
                  <a:rPr lang="en-US" dirty="0"/>
                  <a:t>(V</a:t>
                </a:r>
                <a:r>
                  <a:rPr lang="en-US" baseline="-25000" dirty="0"/>
                  <a:t>m</a:t>
                </a:r>
                <a:r>
                  <a:rPr lang="en-US" dirty="0"/>
                  <a:t>-V</a:t>
                </a:r>
                <a:r>
                  <a:rPr lang="en-US" baseline="-25000" dirty="0"/>
                  <a:t>0</a:t>
                </a:r>
                <a:r>
                  <a:rPr lang="en-US" dirty="0"/>
                  <a:t>)+C</a:t>
                </a:r>
                <a:r>
                  <a:rPr lang="en-US" baseline="-25000" dirty="0"/>
                  <a:t>m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)) (Nelson Eq. 12.7)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/>
                          <m:t>r</m:t>
                        </m:r>
                        <m:r>
                          <m:rPr>
                            <m:nor/>
                          </m:rPr>
                          <a:rPr lang="el-GR" dirty="0"/>
                          <m:t>κ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smtClean="0"/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)=(V</a:t>
                </a:r>
                <a:r>
                  <a:rPr lang="en-US" baseline="-25000" dirty="0"/>
                  <a:t>max</a:t>
                </a:r>
                <a:r>
                  <a:rPr lang="en-US" dirty="0"/>
                  <a:t>-V</a:t>
                </a:r>
                <a:r>
                  <a:rPr lang="en-US" baseline="-25000" dirty="0"/>
                  <a:t>0</a:t>
                </a:r>
                <a:r>
                  <a:rPr lang="en-US" dirty="0"/>
                  <a:t>)+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/>
                  <a:t>)           </a:t>
                </a:r>
                <a:r>
                  <a:rPr lang="el-GR" dirty="0"/>
                  <a:t>λ</a:t>
                </a:r>
                <a:r>
                  <a:rPr lang="en-US" baseline="30000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)=(V</a:t>
                </a:r>
                <a:r>
                  <a:rPr lang="en-US" baseline="-25000" dirty="0"/>
                  <a:t>m</a:t>
                </a:r>
                <a:r>
                  <a:rPr lang="en-US" dirty="0"/>
                  <a:t>-V</a:t>
                </a:r>
                <a:r>
                  <a:rPr lang="en-US" baseline="-25000" dirty="0"/>
                  <a:t>0</a:t>
                </a:r>
                <a:r>
                  <a:rPr lang="en-US" dirty="0"/>
                  <a:t>)+</a:t>
                </a:r>
                <a:r>
                  <a:rPr lang="el-GR" dirty="0"/>
                  <a:t>τ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/>
                          <m:t>r</m:t>
                        </m:r>
                        <m:r>
                          <m:rPr>
                            <m:nor/>
                          </m:rPr>
                          <a:rPr lang="el-GR" dirty="0"/>
                          <m:t>κ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2</m:t>
                        </m:r>
                      </m:den>
                    </m:f>
                    <m:r>
                      <a:rPr lang="en-US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axial cytoplasmic conductance and g</a:t>
                </a:r>
                <a:r>
                  <a:rPr lang="en-US" baseline="-25000" dirty="0"/>
                  <a:t>r</a:t>
                </a:r>
                <a:r>
                  <a:rPr lang="en-US" dirty="0"/>
                  <a:t> is the total membrane conductance for ions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36A710-C0A8-2A1D-F138-D95B5BD2A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2313430"/>
                <a:ext cx="6994113" cy="4544570"/>
              </a:xfrm>
              <a:blipFill>
                <a:blip r:embed="rId3"/>
                <a:stretch>
                  <a:fillRect l="-785" t="-536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21DAEEC-1AB4-BC4B-7237-8CB20774A741}"/>
              </a:ext>
            </a:extLst>
          </p:cNvPr>
          <p:cNvSpPr/>
          <p:nvPr/>
        </p:nvSpPr>
        <p:spPr>
          <a:xfrm>
            <a:off x="3051282" y="5605764"/>
            <a:ext cx="358667" cy="1778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circuit">
            <a:extLst>
              <a:ext uri="{FF2B5EF4-FFF2-40B4-BE49-F238E27FC236}">
                <a16:creationId xmlns:a16="http://schemas.microsoft.com/office/drawing/2014/main" id="{A1CDBFBF-EA9C-4A9E-ED1F-9A844346243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E8E8E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743" y="2362291"/>
            <a:ext cx="3698441" cy="2663466"/>
          </a:xfrm>
          <a:prstGeom prst="rect">
            <a:avLst/>
          </a:prstGeom>
        </p:spPr>
      </p:pic>
      <p:pic>
        <p:nvPicPr>
          <p:cNvPr id="7" name="Picture 6" descr="A diagram of a diagram">
            <a:extLst>
              <a:ext uri="{FF2B5EF4-FFF2-40B4-BE49-F238E27FC236}">
                <a16:creationId xmlns:a16="http://schemas.microsoft.com/office/drawing/2014/main" id="{C54F820E-0858-464A-31FA-B7D331B8011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999" y="5350629"/>
            <a:ext cx="5114125" cy="13777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6DBBA1-0225-5CAA-11BD-47175305B768}"/>
                  </a:ext>
                </a:extLst>
              </p14:cNvPr>
              <p14:cNvContentPartPr/>
              <p14:nvPr/>
            </p14:nvContentPartPr>
            <p14:xfrm>
              <a:off x="7650093" y="615444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6DBBA1-0225-5CAA-11BD-47175305B7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43973" y="614832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763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68907-CE90-6AF5-6028-D1EE72E2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Neuron as a Cable(cont.)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36A710-C0A8-2A1D-F138-D95B5BD2A7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313430"/>
                <a:ext cx="7035800" cy="45445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we know </a:t>
                </a:r>
                <a:r>
                  <a:rPr lang="el-GR" dirty="0"/>
                  <a:t>τ</a:t>
                </a:r>
                <a:r>
                  <a:rPr lang="en-US" dirty="0"/>
                  <a:t>, let’s look at how </a:t>
                </a:r>
                <a:r>
                  <a:rPr lang="el-GR" dirty="0"/>
                  <a:t>λ</a:t>
                </a:r>
                <a:r>
                  <a:rPr lang="en-US" dirty="0"/>
                  <a:t> impacts voltage</a:t>
                </a:r>
              </a:p>
              <a:p>
                <a:pPr lvl="1"/>
                <a:r>
                  <a:rPr lang="el-GR" dirty="0"/>
                  <a:t>λ</a:t>
                </a:r>
                <a:r>
                  <a:rPr lang="en-US" baseline="30000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)=(V</a:t>
                </a:r>
                <a:r>
                  <a:rPr lang="en-US" baseline="-25000" dirty="0"/>
                  <a:t>m</a:t>
                </a:r>
                <a:r>
                  <a:rPr lang="en-US" dirty="0"/>
                  <a:t>-V</a:t>
                </a:r>
                <a:r>
                  <a:rPr lang="en-US" baseline="-25000" dirty="0"/>
                  <a:t>0</a:t>
                </a:r>
                <a:r>
                  <a:rPr lang="en-US" dirty="0"/>
                  <a:t>)+</a:t>
                </a:r>
                <a:r>
                  <a:rPr lang="el-GR" dirty="0"/>
                  <a:t>τ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), assume </a:t>
                </a:r>
                <a:r>
                  <a:rPr lang="el-GR" dirty="0"/>
                  <a:t>τ</a:t>
                </a:r>
                <a:r>
                  <a:rPr lang="en-US" dirty="0"/>
                  <a:t>=0 and solve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aseline="300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aseline="3000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baseline="30000" dirty="0"/>
                  <a:t> </a:t>
                </a:r>
              </a:p>
              <a:p>
                <a:pPr lvl="1"/>
                <a:r>
                  <a:rPr lang="en-US" dirty="0" err="1"/>
                  <a:t>V</a:t>
                </a:r>
                <a:r>
                  <a:rPr lang="en-US" baseline="-25000" dirty="0" err="1"/>
                  <a:t>m</a:t>
                </a:r>
                <a:r>
                  <a:rPr lang="en-US" dirty="0"/>
                  <a:t>=V</a:t>
                </a:r>
                <a:r>
                  <a:rPr lang="en-US" baseline="-25000" dirty="0"/>
                  <a:t>0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|/</m:t>
                        </m:r>
                        <m:r>
                          <m:rPr>
                            <m:nor/>
                          </m:rPr>
                          <a:rPr lang="el-GR" dirty="0"/>
                          <m:t>λ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aseline="-25000" dirty="0"/>
              </a:p>
              <a:p>
                <a:r>
                  <a:rPr lang="el-GR" dirty="0"/>
                  <a:t>λ</a:t>
                </a:r>
                <a:r>
                  <a:rPr lang="en-US" dirty="0"/>
                  <a:t>, like </a:t>
                </a:r>
                <a:r>
                  <a:rPr lang="el-GR" dirty="0"/>
                  <a:t>τ</a:t>
                </a:r>
                <a:r>
                  <a:rPr lang="en-US" dirty="0"/>
                  <a:t>, will represent a space constant innate within a cell that determines how far will the membrane potential go while maintaining its potency</a:t>
                </a:r>
              </a:p>
              <a:p>
                <a:pPr lvl="1"/>
                <a:r>
                  <a:rPr lang="en-US" dirty="0"/>
                  <a:t>In this case, </a:t>
                </a:r>
                <a:r>
                  <a:rPr lang="el-GR" dirty="0"/>
                  <a:t>λ</a:t>
                </a:r>
                <a:r>
                  <a:rPr lang="en-US" dirty="0"/>
                  <a:t> will represent the distance(x) when </a:t>
                </a:r>
                <a:r>
                  <a:rPr lang="en-US" dirty="0" err="1"/>
                  <a:t>V</a:t>
                </a:r>
                <a:r>
                  <a:rPr lang="en-US" baseline="-25000" dirty="0" err="1"/>
                  <a:t>m</a:t>
                </a:r>
                <a:r>
                  <a:rPr lang="en-US" dirty="0"/>
                  <a:t> decays to 37%  of its original value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36A710-C0A8-2A1D-F138-D95B5BD2A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13430"/>
                <a:ext cx="7035800" cy="4544570"/>
              </a:xfrm>
              <a:blipFill>
                <a:blip r:embed="rId3"/>
                <a:stretch>
                  <a:fillRect l="-780" t="-402" r="-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F8323AEF-8671-C836-2A2E-15AB3E582F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3" t="23540" r="10559" b="10328"/>
          <a:stretch/>
        </p:blipFill>
        <p:spPr>
          <a:xfrm>
            <a:off x="7383401" y="3563289"/>
            <a:ext cx="4196615" cy="2915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3C4ACF-39BD-B388-38DD-A16FD93E8CC3}"/>
              </a:ext>
            </a:extLst>
          </p:cNvPr>
          <p:cNvSpPr txBox="1"/>
          <p:nvPr/>
        </p:nvSpPr>
        <p:spPr>
          <a:xfrm>
            <a:off x="7298729" y="5898613"/>
            <a:ext cx="49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-x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EE36D-6957-142E-4E2C-77065EE33260}"/>
              </a:ext>
            </a:extLst>
          </p:cNvPr>
          <p:cNvSpPr txBox="1"/>
          <p:nvPr/>
        </p:nvSpPr>
        <p:spPr>
          <a:xfrm>
            <a:off x="11490165" y="5898613"/>
            <a:ext cx="49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0B836-F3F7-2979-6497-EBF6A022B4ED}"/>
              </a:ext>
            </a:extLst>
          </p:cNvPr>
          <p:cNvSpPr txBox="1"/>
          <p:nvPr/>
        </p:nvSpPr>
        <p:spPr>
          <a:xfrm>
            <a:off x="9364980" y="3394012"/>
            <a:ext cx="49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V</a:t>
            </a:r>
            <a:r>
              <a:rPr lang="en-US" sz="1600" baseline="-25000" dirty="0" err="1"/>
              <a:t>m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803B6-8244-5B88-EC0B-B9FC391E3716}"/>
              </a:ext>
            </a:extLst>
          </p:cNvPr>
          <p:cNvSpPr txBox="1"/>
          <p:nvPr/>
        </p:nvSpPr>
        <p:spPr>
          <a:xfrm>
            <a:off x="8427242" y="3028465"/>
            <a:ext cx="450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/>
              <a:t> vs. distance(x)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D75CE4-087C-E94D-91B3-5F5E5738D0DF}"/>
              </a:ext>
            </a:extLst>
          </p:cNvPr>
          <p:cNvGrpSpPr/>
          <p:nvPr/>
        </p:nvGrpSpPr>
        <p:grpSpPr>
          <a:xfrm>
            <a:off x="8927687" y="5390287"/>
            <a:ext cx="1760760" cy="360"/>
            <a:chOff x="8927687" y="5390287"/>
            <a:chExt cx="17607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3CB010-F72E-913D-4729-E83FF53F2D08}"/>
                    </a:ext>
                  </a:extLst>
                </p14:cNvPr>
                <p14:cNvContentPartPr/>
                <p14:nvPr/>
              </p14:nvContentPartPr>
              <p14:xfrm>
                <a:off x="8927687" y="5390287"/>
                <a:ext cx="2595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3CB010-F72E-913D-4729-E83FF53F2D0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21567" y="5384167"/>
                  <a:ext cx="271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D628F9-6A95-4114-DC6E-09D17A9E5B82}"/>
                    </a:ext>
                  </a:extLst>
                </p14:cNvPr>
                <p14:cNvContentPartPr/>
                <p14:nvPr/>
              </p14:nvContentPartPr>
              <p14:xfrm>
                <a:off x="9355367" y="5390287"/>
                <a:ext cx="2721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D628F9-6A95-4114-DC6E-09D17A9E5B8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49247" y="5384167"/>
                  <a:ext cx="28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1D2F717-9D8F-E232-D66D-B8D839B1E9E3}"/>
                    </a:ext>
                  </a:extLst>
                </p14:cNvPr>
                <p14:cNvContentPartPr/>
                <p14:nvPr/>
              </p14:nvContentPartPr>
              <p14:xfrm>
                <a:off x="9842087" y="5390287"/>
                <a:ext cx="26784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1D2F717-9D8F-E232-D66D-B8D839B1E9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35967" y="5384167"/>
                  <a:ext cx="280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953DE3-C3F8-2B6A-434B-16C8154716B8}"/>
                    </a:ext>
                  </a:extLst>
                </p14:cNvPr>
                <p14:cNvContentPartPr/>
                <p14:nvPr/>
              </p14:nvContentPartPr>
              <p14:xfrm>
                <a:off x="10303607" y="5390287"/>
                <a:ext cx="38484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953DE3-C3F8-2B6A-434B-16C8154716B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97487" y="5384167"/>
                  <a:ext cx="3970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C9FDD51-C6F9-8ECD-7849-86A415C92263}"/>
                  </a:ext>
                </a:extLst>
              </p14:cNvPr>
              <p14:cNvContentPartPr/>
              <p14:nvPr/>
            </p14:nvContentPartPr>
            <p14:xfrm>
              <a:off x="8568767" y="5390287"/>
              <a:ext cx="2214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C9FDD51-C6F9-8ECD-7849-86A415C9226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62647" y="5384167"/>
                <a:ext cx="23364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474F75B-F71B-2DB0-0153-91C721AEAE84}"/>
              </a:ext>
            </a:extLst>
          </p:cNvPr>
          <p:cNvSpPr txBox="1"/>
          <p:nvPr/>
        </p:nvSpPr>
        <p:spPr>
          <a:xfrm>
            <a:off x="10428289" y="5039620"/>
            <a:ext cx="1405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37% decay, x=</a:t>
            </a:r>
            <a:r>
              <a:rPr lang="el-GR" sz="1000" dirty="0"/>
              <a:t>λ</a:t>
            </a:r>
            <a:endParaRPr lang="en-US" sz="800" baseline="-25000" dirty="0"/>
          </a:p>
        </p:txBody>
      </p:sp>
    </p:spTree>
    <p:extLst>
      <p:ext uri="{BB962C8B-B14F-4D97-AF65-F5344CB8AC3E}">
        <p14:creationId xmlns:p14="http://schemas.microsoft.com/office/powerpoint/2010/main" val="2264612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05D9E-1E04-1355-BDF1-A1B9E474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Putting this Together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ED27-061C-A813-38B0-F320B2A87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3430"/>
            <a:ext cx="7473950" cy="4455670"/>
          </a:xfrm>
        </p:spPr>
        <p:txBody>
          <a:bodyPr>
            <a:normAutofit/>
          </a:bodyPr>
          <a:lstStyle/>
          <a:p>
            <a:r>
              <a:rPr lang="en-US" dirty="0"/>
              <a:t>We can now establish a good model that explains the conductivity of a current inside a neuron</a:t>
            </a:r>
          </a:p>
          <a:p>
            <a:r>
              <a:rPr lang="en-US" dirty="0"/>
              <a:t>We can see from our space and time factors (</a:t>
            </a:r>
            <a:r>
              <a:rPr lang="el-GR" dirty="0"/>
              <a:t>λ</a:t>
            </a:r>
            <a:r>
              <a:rPr lang="en-US" dirty="0"/>
              <a:t> and </a:t>
            </a:r>
            <a:r>
              <a:rPr lang="el-GR" dirty="0"/>
              <a:t>τ</a:t>
            </a:r>
            <a:r>
              <a:rPr lang="en-US" dirty="0"/>
              <a:t>) that when the initial current carries the Na</a:t>
            </a:r>
            <a:r>
              <a:rPr lang="en-US" baseline="30000" dirty="0"/>
              <a:t>+</a:t>
            </a:r>
            <a:r>
              <a:rPr lang="en-US" dirty="0"/>
              <a:t> ions come in, they behave similarly to a diffusion response and spread passively in the membrane </a:t>
            </a:r>
          </a:p>
          <a:p>
            <a:pPr lvl="1"/>
            <a:r>
              <a:rPr lang="en-US" dirty="0"/>
              <a:t>Passive spread derivation: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CMMI10"/>
              </a:rPr>
              <a:t> v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CMR10"/>
              </a:rPr>
              <a:t>(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CMMI10"/>
              </a:rPr>
              <a:t>x, t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CMR10"/>
              </a:rPr>
              <a:t>) = (e</a:t>
            </a:r>
            <a:r>
              <a:rPr lang="en-US" sz="1600" b="0" i="1" u="none" strike="noStrike" baseline="30000" dirty="0">
                <a:solidFill>
                  <a:srgbClr val="231F20"/>
                </a:solidFill>
                <a:latin typeface="CMSY7"/>
              </a:rPr>
              <a:t>−</a:t>
            </a:r>
            <a:r>
              <a:rPr lang="en-US" sz="1600" b="0" i="1" u="none" strike="noStrike" baseline="30000" dirty="0">
                <a:solidFill>
                  <a:srgbClr val="231F20"/>
                </a:solidFill>
                <a:latin typeface="CMMI7"/>
              </a:rPr>
              <a:t>t/</a:t>
            </a:r>
            <a:r>
              <a:rPr lang="el-GR" sz="1600" b="0" i="1" u="none" strike="noStrike" baseline="30000" dirty="0">
                <a:solidFill>
                  <a:srgbClr val="231F20"/>
                </a:solidFill>
                <a:latin typeface="CMMI7"/>
              </a:rPr>
              <a:t>τ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CMMI7"/>
              </a:rPr>
              <a:t>)</a:t>
            </a:r>
            <a:r>
              <a:rPr lang="fr-FR" sz="1600" i="1" dirty="0">
                <a:solidFill>
                  <a:srgbClr val="231F20"/>
                </a:solidFill>
                <a:latin typeface="CMSY7"/>
              </a:rPr>
              <a:t>(</a:t>
            </a:r>
            <a:r>
              <a:rPr lang="fr-FR" sz="1600" b="0" i="1" u="none" strike="noStrike" baseline="0" dirty="0">
                <a:solidFill>
                  <a:srgbClr val="231F20"/>
                </a:solidFill>
                <a:latin typeface="CMSY7"/>
              </a:rPr>
              <a:t>t</a:t>
            </a:r>
            <a:r>
              <a:rPr lang="fr-FR" sz="1600" b="0" i="1" u="none" strike="noStrike" baseline="30000" dirty="0">
                <a:solidFill>
                  <a:srgbClr val="231F20"/>
                </a:solidFill>
                <a:latin typeface="CMSY7"/>
              </a:rPr>
              <a:t>-</a:t>
            </a:r>
            <a:r>
              <a:rPr lang="fr-FR" sz="1600" b="0" i="0" u="none" strike="noStrike" baseline="30000" dirty="0">
                <a:solidFill>
                  <a:srgbClr val="231F20"/>
                </a:solidFill>
                <a:latin typeface="CMR7"/>
              </a:rPr>
              <a:t>1</a:t>
            </a:r>
            <a:r>
              <a:rPr lang="fr-FR" sz="1600" b="0" i="1" u="none" strike="noStrike" baseline="30000" dirty="0">
                <a:solidFill>
                  <a:srgbClr val="231F20"/>
                </a:solidFill>
                <a:latin typeface="CMMI7"/>
              </a:rPr>
              <a:t>/</a:t>
            </a:r>
            <a:r>
              <a:rPr lang="fr-FR" sz="1600" b="0" i="0" u="none" strike="noStrike" baseline="30000" dirty="0">
                <a:solidFill>
                  <a:srgbClr val="231F20"/>
                </a:solidFill>
                <a:latin typeface="CMR7"/>
              </a:rPr>
              <a:t>2</a:t>
            </a:r>
            <a:r>
              <a:rPr lang="fr-FR" sz="1600" b="0" i="0" u="none" strike="noStrike" baseline="0" dirty="0">
                <a:solidFill>
                  <a:srgbClr val="231F20"/>
                </a:solidFill>
                <a:latin typeface="CMR7"/>
              </a:rPr>
              <a:t>)(</a:t>
            </a:r>
            <a:r>
              <a:rPr lang="fr-FR" sz="1600" b="0" i="0" u="none" strike="noStrike" baseline="0" dirty="0">
                <a:solidFill>
                  <a:srgbClr val="231F20"/>
                </a:solidFill>
                <a:latin typeface="CMR10"/>
              </a:rPr>
              <a:t>e</a:t>
            </a:r>
            <a:r>
              <a:rPr lang="fr-FR" sz="1600" b="0" i="1" u="none" strike="noStrike" baseline="-25000" dirty="0">
                <a:solidFill>
                  <a:srgbClr val="231F20"/>
                </a:solidFill>
                <a:latin typeface="CMSY7"/>
              </a:rPr>
              <a:t>−</a:t>
            </a:r>
            <a:r>
              <a:rPr lang="fr-FR" sz="1600" b="0" i="1" u="none" strike="noStrike" baseline="30000" dirty="0">
                <a:solidFill>
                  <a:srgbClr val="231F20"/>
                </a:solidFill>
                <a:latin typeface="CMMI7"/>
              </a:rPr>
              <a:t>x</a:t>
            </a:r>
            <a:r>
              <a:rPr lang="fr-FR" sz="1600" b="0" i="0" u="none" strike="noStrike" baseline="30000" dirty="0">
                <a:solidFill>
                  <a:srgbClr val="231F20"/>
                </a:solidFill>
                <a:latin typeface="CMR5"/>
              </a:rPr>
              <a:t>^2</a:t>
            </a:r>
            <a:r>
              <a:rPr lang="fr-FR" sz="1600" b="0" i="1" u="none" strike="noStrike" baseline="30000" dirty="0">
                <a:solidFill>
                  <a:srgbClr val="231F20"/>
                </a:solidFill>
                <a:latin typeface="CMMI7"/>
              </a:rPr>
              <a:t>/</a:t>
            </a:r>
            <a:r>
              <a:rPr lang="fr-FR" sz="1600" b="0" i="0" u="none" strike="noStrike" baseline="30000" dirty="0">
                <a:solidFill>
                  <a:srgbClr val="231F20"/>
                </a:solidFill>
                <a:latin typeface="CMR7"/>
              </a:rPr>
              <a:t>(4</a:t>
            </a:r>
            <a:r>
              <a:rPr lang="fr-FR" sz="1600" b="0" i="1" u="none" strike="noStrike" baseline="30000" dirty="0">
                <a:solidFill>
                  <a:srgbClr val="231F20"/>
                </a:solidFill>
                <a:latin typeface="CMMI7"/>
              </a:rPr>
              <a:t>tλ</a:t>
            </a:r>
            <a:r>
              <a:rPr lang="fr-FR" sz="1600" b="0" i="0" u="none" strike="noStrike" baseline="30000" dirty="0">
                <a:solidFill>
                  <a:srgbClr val="231F20"/>
                </a:solidFill>
                <a:latin typeface="CMR5"/>
              </a:rPr>
              <a:t>2</a:t>
            </a:r>
            <a:r>
              <a:rPr lang="fr-FR" sz="1600" b="0" i="1" u="none" strike="noStrike" baseline="30000" dirty="0">
                <a:solidFill>
                  <a:srgbClr val="231F20"/>
                </a:solidFill>
                <a:latin typeface="CMMI7"/>
              </a:rPr>
              <a:t>/τ</a:t>
            </a:r>
            <a:r>
              <a:rPr lang="fr-FR" sz="1600" b="0" i="0" u="none" strike="noStrike" baseline="30000" dirty="0">
                <a:solidFill>
                  <a:srgbClr val="231F20"/>
                </a:solidFill>
                <a:latin typeface="CMR7"/>
              </a:rPr>
              <a:t>)</a:t>
            </a:r>
            <a:r>
              <a:rPr lang="fr-FR" sz="1600" b="0" i="0" u="none" strike="noStrike" dirty="0">
                <a:solidFill>
                  <a:srgbClr val="231F20"/>
                </a:solidFill>
                <a:latin typeface="CMR7"/>
              </a:rPr>
              <a:t>) (Nelson Eq.12.10)</a:t>
            </a:r>
            <a:endParaRPr lang="en-US" dirty="0"/>
          </a:p>
          <a:p>
            <a:r>
              <a:rPr lang="en-US" dirty="0"/>
              <a:t>Through passive spread, these ions can be quick in traveling and depolarizing a cell and, therefore, initiating future action potentials down the cell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05D9E-1E04-1355-BDF1-A1B9E474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Biological Optimizations: Giant Squid Axon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FED27-061C-A813-38B0-F320B2A874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272487"/>
                <a:ext cx="6370014" cy="450870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Why do squid have such fast responses? </a:t>
                </a:r>
              </a:p>
              <a:p>
                <a:r>
                  <a:rPr lang="en-US" dirty="0"/>
                  <a:t>Squids have large axons  that carry the signal fast</a:t>
                </a:r>
              </a:p>
              <a:p>
                <a:r>
                  <a:rPr lang="en-US" dirty="0"/>
                  <a:t>We know that the </a:t>
                </a:r>
                <a:r>
                  <a:rPr lang="el-GR" dirty="0"/>
                  <a:t>λ</a:t>
                </a:r>
                <a:r>
                  <a:rPr lang="en-US" dirty="0"/>
                  <a:t> constant will increase with an increase in cytoplasmic conductivity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r</m:t>
                        </m:r>
                        <m:r>
                          <m:rPr>
                            <m:nor/>
                          </m:rPr>
                          <a:rPr lang="el-GR" dirty="0"/>
                          <m:t>κ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2</m:t>
                        </m:r>
                      </m:den>
                    </m:f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increases</a:t>
                </a:r>
              </a:p>
              <a:p>
                <a:pPr lvl="1"/>
                <a:r>
                  <a:rPr lang="en-US" dirty="0"/>
                  <a:t>g</a:t>
                </a:r>
                <a:r>
                  <a:rPr lang="en-US" baseline="-25000" dirty="0"/>
                  <a:t>r </a:t>
                </a:r>
                <a:r>
                  <a:rPr lang="en-US" dirty="0"/>
                  <a:t>also increases, but this is countered by an increase in Na</a:t>
                </a:r>
                <a:r>
                  <a:rPr lang="en-US" baseline="30000" dirty="0"/>
                  <a:t>+ </a:t>
                </a:r>
                <a:r>
                  <a:rPr lang="en-US" dirty="0"/>
                  <a:t>channels too</a:t>
                </a:r>
              </a:p>
              <a:p>
                <a:r>
                  <a:rPr lang="en-US" dirty="0"/>
                  <a:t>This would make the charge move further down the axon without any cytoplasmic interference or risk of losing potential due to leakiness </a:t>
                </a:r>
              </a:p>
              <a:p>
                <a:pPr lvl="1"/>
                <a:r>
                  <a:rPr lang="en-US" dirty="0"/>
                  <a:t>Na</a:t>
                </a:r>
                <a:r>
                  <a:rPr lang="en-US" baseline="30000" dirty="0"/>
                  <a:t>+ </a:t>
                </a:r>
                <a:r>
                  <a:rPr lang="en-US" dirty="0"/>
                  <a:t>can move further along the axon and depolarize the membrane faster and with greater coverage</a:t>
                </a:r>
                <a:endParaRPr lang="en-US" baseline="30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FED27-061C-A813-38B0-F320B2A87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272487"/>
                <a:ext cx="6370014" cy="4508703"/>
              </a:xfrm>
              <a:blipFill>
                <a:blip r:embed="rId3"/>
                <a:stretch>
                  <a:fillRect l="-861" t="-541" r="-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03405F46-D677-F6C1-2355-369550742C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5" t="22235" r="11696" b="19591"/>
          <a:stretch/>
        </p:blipFill>
        <p:spPr>
          <a:xfrm>
            <a:off x="6784588" y="4351426"/>
            <a:ext cx="3683262" cy="2429764"/>
          </a:xfrm>
          <a:prstGeom prst="rect">
            <a:avLst/>
          </a:prstGeom>
        </p:spPr>
      </p:pic>
      <p:pic>
        <p:nvPicPr>
          <p:cNvPr id="7" name="Picture 6" descr="A white line on a surface">
            <a:extLst>
              <a:ext uri="{FF2B5EF4-FFF2-40B4-BE49-F238E27FC236}">
                <a16:creationId xmlns:a16="http://schemas.microsoft.com/office/drawing/2014/main" id="{BBC198F1-7495-4F83-74B0-9D9A90FEE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643" y="2306910"/>
            <a:ext cx="5514727" cy="14438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40701F-03B7-8E44-5225-25FF04814637}"/>
              </a:ext>
            </a:extLst>
          </p:cNvPr>
          <p:cNvSpPr txBox="1"/>
          <p:nvPr/>
        </p:nvSpPr>
        <p:spPr>
          <a:xfrm>
            <a:off x="8377299" y="4206442"/>
            <a:ext cx="49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V</a:t>
            </a:r>
            <a:r>
              <a:rPr lang="en-US" sz="1600" baseline="-25000" dirty="0" err="1"/>
              <a:t>m</a:t>
            </a:r>
            <a:endParaRPr lang="en-US" sz="1600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2EFBD-4186-679C-0883-DE4D7A1C1E7B}"/>
              </a:ext>
            </a:extLst>
          </p:cNvPr>
          <p:cNvSpPr txBox="1"/>
          <p:nvPr/>
        </p:nvSpPr>
        <p:spPr>
          <a:xfrm>
            <a:off x="10329154" y="6294937"/>
            <a:ext cx="806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 (nm)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2E039-7BEE-40E2-686C-DDF15B845D38}"/>
              </a:ext>
            </a:extLst>
          </p:cNvPr>
          <p:cNvSpPr txBox="1"/>
          <p:nvPr/>
        </p:nvSpPr>
        <p:spPr>
          <a:xfrm>
            <a:off x="6583652" y="6351561"/>
            <a:ext cx="863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-x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608A5-21B0-D45D-9FAB-FD0CFD9AD521}"/>
              </a:ext>
            </a:extLst>
          </p:cNvPr>
          <p:cNvSpPr txBox="1"/>
          <p:nvPr/>
        </p:nvSpPr>
        <p:spPr>
          <a:xfrm>
            <a:off x="9359686" y="4952567"/>
            <a:ext cx="49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l-GR" sz="1600" dirty="0">
                <a:solidFill>
                  <a:srgbClr val="0070C0"/>
                </a:solidFill>
              </a:rPr>
              <a:t>λ</a:t>
            </a:r>
            <a:endParaRPr lang="en-US" sz="1400" dirty="0">
              <a:solidFill>
                <a:srgbClr val="0070C0"/>
              </a:solidFill>
            </a:endParaRPr>
          </a:p>
          <a:p>
            <a:r>
              <a:rPr lang="en-US" sz="1400" dirty="0">
                <a:solidFill>
                  <a:srgbClr val="FFC000"/>
                </a:solidFill>
              </a:rPr>
              <a:t>2</a:t>
            </a:r>
            <a:r>
              <a:rPr lang="el-GR" sz="1600" dirty="0">
                <a:solidFill>
                  <a:srgbClr val="FFC000"/>
                </a:solidFill>
              </a:rPr>
              <a:t>λ</a:t>
            </a:r>
            <a:endParaRPr lang="en-US" sz="1400" dirty="0">
              <a:solidFill>
                <a:srgbClr val="FFC000"/>
              </a:solidFill>
            </a:endParaRPr>
          </a:p>
          <a:p>
            <a:r>
              <a:rPr lang="en-US" sz="1400" dirty="0">
                <a:solidFill>
                  <a:srgbClr val="92D050"/>
                </a:solidFill>
              </a:rPr>
              <a:t>3</a:t>
            </a:r>
            <a:r>
              <a:rPr lang="el-GR" sz="1600" dirty="0">
                <a:solidFill>
                  <a:srgbClr val="92D050"/>
                </a:solidFill>
              </a:rPr>
              <a:t>λ</a:t>
            </a:r>
            <a:endParaRPr lang="en-US" sz="1400" dirty="0">
              <a:solidFill>
                <a:srgbClr val="92D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1E54C-2A0F-2386-C5E0-3E9385CC1F8A}"/>
              </a:ext>
            </a:extLst>
          </p:cNvPr>
          <p:cNvSpPr txBox="1"/>
          <p:nvPr/>
        </p:nvSpPr>
        <p:spPr>
          <a:xfrm>
            <a:off x="6298546" y="3979596"/>
            <a:ext cx="465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Plot V</a:t>
            </a:r>
            <a:r>
              <a:rPr lang="en-US" baseline="-25000"/>
              <a:t>m</a:t>
            </a:r>
            <a:r>
              <a:rPr lang="en-US"/>
              <a:t> vs. distance(x) for different </a:t>
            </a:r>
            <a:r>
              <a:rPr lang="el-GR"/>
              <a:t>λ</a:t>
            </a:r>
            <a:r>
              <a:rPr lang="en-US"/>
              <a:t> values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A42320-0C99-F319-AB53-86DF7FEC5038}"/>
              </a:ext>
            </a:extLst>
          </p:cNvPr>
          <p:cNvGrpSpPr/>
          <p:nvPr/>
        </p:nvGrpSpPr>
        <p:grpSpPr>
          <a:xfrm>
            <a:off x="7781573" y="5821429"/>
            <a:ext cx="1760760" cy="360"/>
            <a:chOff x="8927687" y="5390287"/>
            <a:chExt cx="17607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625856-746A-C556-5AF0-52EDE071E54F}"/>
                    </a:ext>
                  </a:extLst>
                </p14:cNvPr>
                <p14:cNvContentPartPr/>
                <p14:nvPr/>
              </p14:nvContentPartPr>
              <p14:xfrm>
                <a:off x="8927687" y="5390287"/>
                <a:ext cx="2595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625856-746A-C556-5AF0-52EDE071E5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21567" y="5384167"/>
                  <a:ext cx="271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FD8418-C3E4-740C-7B6C-6BC442A35BC6}"/>
                    </a:ext>
                  </a:extLst>
                </p14:cNvPr>
                <p14:cNvContentPartPr/>
                <p14:nvPr/>
              </p14:nvContentPartPr>
              <p14:xfrm>
                <a:off x="9355367" y="5390287"/>
                <a:ext cx="2721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FD8418-C3E4-740C-7B6C-6BC442A35B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49247" y="5384167"/>
                  <a:ext cx="28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1405E7-B3F3-6F29-9968-077C6484C408}"/>
                    </a:ext>
                  </a:extLst>
                </p14:cNvPr>
                <p14:cNvContentPartPr/>
                <p14:nvPr/>
              </p14:nvContentPartPr>
              <p14:xfrm>
                <a:off x="9842087" y="5390287"/>
                <a:ext cx="26784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1405E7-B3F3-6F29-9968-077C6484C4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35967" y="5384167"/>
                  <a:ext cx="280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9FB66A-0986-684B-1788-6778F361399F}"/>
                    </a:ext>
                  </a:extLst>
                </p14:cNvPr>
                <p14:cNvContentPartPr/>
                <p14:nvPr/>
              </p14:nvContentPartPr>
              <p14:xfrm>
                <a:off x="10303607" y="5390287"/>
                <a:ext cx="38484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9FB66A-0986-684B-1788-6778F36139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97487" y="5384167"/>
                  <a:ext cx="39708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AD1B811-51CF-11C8-45C4-87BCA49246E3}"/>
              </a:ext>
            </a:extLst>
          </p:cNvPr>
          <p:cNvSpPr txBox="1"/>
          <p:nvPr/>
        </p:nvSpPr>
        <p:spPr>
          <a:xfrm>
            <a:off x="9872397" y="5660453"/>
            <a:ext cx="1405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37% decay, x=</a:t>
            </a:r>
            <a:r>
              <a:rPr lang="el-GR" sz="1000" dirty="0"/>
              <a:t>λ</a:t>
            </a:r>
            <a:endParaRPr lang="en-US" sz="800" baseline="-25000" dirty="0"/>
          </a:p>
        </p:txBody>
      </p:sp>
    </p:spTree>
    <p:extLst>
      <p:ext uri="{BB962C8B-B14F-4D97-AF65-F5344CB8AC3E}">
        <p14:creationId xmlns:p14="http://schemas.microsoft.com/office/powerpoint/2010/main" val="93199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05D9E-1E04-1355-BDF1-A1B9E474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Biological Optimizations: Myelin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ED27-061C-A813-38B0-F320B2A87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313430"/>
            <a:ext cx="6620933" cy="45445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Let’s consider our cells compared to the squid</a:t>
            </a:r>
          </a:p>
          <a:p>
            <a:pPr lvl="1"/>
            <a:r>
              <a:rPr lang="en-US" dirty="0"/>
              <a:t>If our optical neuron were on scale with the giant squid axon, it would end up being 1m long</a:t>
            </a:r>
          </a:p>
          <a:p>
            <a:r>
              <a:rPr lang="en-US" dirty="0"/>
              <a:t>How do we solve this issue? Myelin</a:t>
            </a:r>
          </a:p>
          <a:p>
            <a:r>
              <a:rPr lang="en-US" dirty="0"/>
              <a:t>Myelin is a coating of cells in a neuron that leaves small relay junctions to generate APs</a:t>
            </a:r>
          </a:p>
          <a:p>
            <a:r>
              <a:rPr lang="en-US" dirty="0"/>
              <a:t>Schwann cells act like parallel capacitors and insulation, increasing C</a:t>
            </a:r>
            <a:r>
              <a:rPr lang="en-US" baseline="-25000" dirty="0"/>
              <a:t>m</a:t>
            </a:r>
            <a:r>
              <a:rPr lang="en-US" dirty="0"/>
              <a:t> and g</a:t>
            </a:r>
            <a:r>
              <a:rPr lang="en-US" baseline="-25000" dirty="0"/>
              <a:t>r</a:t>
            </a:r>
            <a:r>
              <a:rPr lang="en-US" dirty="0"/>
              <a:t> and, therefore, </a:t>
            </a:r>
            <a:r>
              <a:rPr lang="el-GR" dirty="0"/>
              <a:t>τ </a:t>
            </a:r>
            <a:endParaRPr lang="en-US" dirty="0"/>
          </a:p>
          <a:p>
            <a:r>
              <a:rPr lang="en-US" dirty="0"/>
              <a:t>With a higher </a:t>
            </a:r>
            <a:r>
              <a:rPr lang="el-GR" dirty="0"/>
              <a:t>τ</a:t>
            </a:r>
            <a:r>
              <a:rPr lang="en-US" dirty="0"/>
              <a:t> value, the current can propagate faster without losing its potency</a:t>
            </a:r>
          </a:p>
          <a:p>
            <a:r>
              <a:rPr lang="en-US" dirty="0"/>
              <a:t>In disorders that involve loss of myelin, like multiple sclerosis, patients often experience sudden paralysis as the signal is not fast enough to relay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diagram of a structure">
            <a:extLst>
              <a:ext uri="{FF2B5EF4-FFF2-40B4-BE49-F238E27FC236}">
                <a16:creationId xmlns:a16="http://schemas.microsoft.com/office/drawing/2014/main" id="{A3EBF6A6-057A-8258-370E-0483E5935C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058" y="2313430"/>
            <a:ext cx="5459941" cy="2233038"/>
          </a:xfrm>
          <a:prstGeom prst="rect">
            <a:avLst/>
          </a:prstGeom>
        </p:spPr>
      </p:pic>
      <p:pic>
        <p:nvPicPr>
          <p:cNvPr id="18" name="Picture 17" descr="A graph of different colored lines">
            <a:extLst>
              <a:ext uri="{FF2B5EF4-FFF2-40B4-BE49-F238E27FC236}">
                <a16:creationId xmlns:a16="http://schemas.microsoft.com/office/drawing/2014/main" id="{695F25EA-E453-9373-7B63-887DD6238DF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843" y="4956569"/>
            <a:ext cx="5098310" cy="17870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2B09C1D-778F-7874-13D8-ABBA5285920B}"/>
              </a:ext>
            </a:extLst>
          </p:cNvPr>
          <p:cNvSpPr txBox="1"/>
          <p:nvPr/>
        </p:nvSpPr>
        <p:spPr>
          <a:xfrm>
            <a:off x="6564866" y="4805101"/>
            <a:ext cx="4978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V</a:t>
            </a:r>
            <a:r>
              <a:rPr lang="en-US" sz="1050" baseline="-25000" dirty="0" err="1"/>
              <a:t>m</a:t>
            </a:r>
            <a:endParaRPr lang="en-US" sz="105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5D515A-C892-DE6A-66D3-3394DD841D35}"/>
              </a:ext>
            </a:extLst>
          </p:cNvPr>
          <p:cNvSpPr txBox="1"/>
          <p:nvPr/>
        </p:nvSpPr>
        <p:spPr>
          <a:xfrm>
            <a:off x="11543352" y="6475756"/>
            <a:ext cx="5578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T(</a:t>
            </a:r>
            <a:r>
              <a:rPr lang="en-US" sz="1050" dirty="0" err="1"/>
              <a:t>ms</a:t>
            </a:r>
            <a:r>
              <a:rPr lang="en-US" sz="1050" dirty="0"/>
              <a:t>)</a:t>
            </a:r>
            <a:endParaRPr lang="en-US" sz="105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3F630A-6EDE-927F-CA59-4C65C93C45EA}"/>
              </a:ext>
            </a:extLst>
          </p:cNvPr>
          <p:cNvSpPr txBox="1"/>
          <p:nvPr/>
        </p:nvSpPr>
        <p:spPr>
          <a:xfrm>
            <a:off x="9945622" y="5131807"/>
            <a:ext cx="497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l-GR" sz="1400" dirty="0">
                <a:solidFill>
                  <a:srgbClr val="0070C0"/>
                </a:solidFill>
              </a:rPr>
              <a:t>τ</a:t>
            </a:r>
            <a:endParaRPr lang="en-US" sz="1400" dirty="0">
              <a:solidFill>
                <a:srgbClr val="0070C0"/>
              </a:solidFill>
            </a:endParaRPr>
          </a:p>
          <a:p>
            <a:r>
              <a:rPr lang="en-US" sz="1400" dirty="0">
                <a:solidFill>
                  <a:srgbClr val="FFC000"/>
                </a:solidFill>
              </a:rPr>
              <a:t>2</a:t>
            </a:r>
            <a:r>
              <a:rPr lang="el-GR" sz="1400" dirty="0">
                <a:solidFill>
                  <a:srgbClr val="FFC000"/>
                </a:solidFill>
              </a:rPr>
              <a:t>τ</a:t>
            </a:r>
            <a:endParaRPr lang="en-US" sz="1400" dirty="0">
              <a:solidFill>
                <a:srgbClr val="FFC000"/>
              </a:solidFill>
            </a:endParaRPr>
          </a:p>
          <a:p>
            <a:r>
              <a:rPr lang="en-US" sz="1400" dirty="0">
                <a:solidFill>
                  <a:srgbClr val="92D050"/>
                </a:solidFill>
              </a:rPr>
              <a:t>3</a:t>
            </a:r>
            <a:r>
              <a:rPr lang="el-GR" sz="1400" dirty="0">
                <a:solidFill>
                  <a:srgbClr val="92D050"/>
                </a:solidFill>
              </a:rPr>
              <a:t>τ</a:t>
            </a:r>
            <a:endParaRPr lang="en-US" sz="1400" dirty="0">
              <a:solidFill>
                <a:srgbClr val="92D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B5B0E-3DD4-A06F-21EF-8E22966BAFD5}"/>
              </a:ext>
            </a:extLst>
          </p:cNvPr>
          <p:cNvSpPr txBox="1"/>
          <p:nvPr/>
        </p:nvSpPr>
        <p:spPr>
          <a:xfrm>
            <a:off x="6406496" y="4513610"/>
            <a:ext cx="465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r>
              <a:rPr lang="en-US" dirty="0"/>
              <a:t> vs. time(t) for different </a:t>
            </a:r>
            <a:r>
              <a:rPr lang="el-GR" dirty="0"/>
              <a:t>τ</a:t>
            </a:r>
            <a:r>
              <a:rPr lang="en-US" dirty="0"/>
              <a:t> values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BDBD55-0B96-4679-F2CD-CE6409E8B1AC}"/>
                  </a:ext>
                </a:extLst>
              </p14:cNvPr>
              <p14:cNvContentPartPr/>
              <p14:nvPr/>
            </p14:nvContentPartPr>
            <p14:xfrm>
              <a:off x="6857920" y="61274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BDBD55-0B96-4679-F2CD-CE6409E8B1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51800" y="612130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F2981D12-04B9-AF5B-BD7C-4CB12AE97B6A}"/>
              </a:ext>
            </a:extLst>
          </p:cNvPr>
          <p:cNvGrpSpPr/>
          <p:nvPr/>
        </p:nvGrpSpPr>
        <p:grpSpPr>
          <a:xfrm>
            <a:off x="9213760" y="6140020"/>
            <a:ext cx="1038960" cy="360"/>
            <a:chOff x="9213760" y="6140020"/>
            <a:chExt cx="10389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69209CB-2CFF-2452-3918-1488FEC9F57A}"/>
                    </a:ext>
                  </a:extLst>
                </p14:cNvPr>
                <p14:cNvContentPartPr/>
                <p14:nvPr/>
              </p14:nvContentPartPr>
              <p14:xfrm>
                <a:off x="9213760" y="6140020"/>
                <a:ext cx="777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69209CB-2CFF-2452-3918-1488FEC9F57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07640" y="6133900"/>
                  <a:ext cx="90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AD54C5-7CDF-D82F-CA68-27588BEC55C7}"/>
                    </a:ext>
                  </a:extLst>
                </p14:cNvPr>
                <p14:cNvContentPartPr/>
                <p14:nvPr/>
              </p14:nvContentPartPr>
              <p14:xfrm>
                <a:off x="9388360" y="6140020"/>
                <a:ext cx="10620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AD54C5-7CDF-D82F-CA68-27588BEC55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82240" y="6133900"/>
                  <a:ext cx="118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6B980E-056D-31BE-4659-9D375A013BAE}"/>
                    </a:ext>
                  </a:extLst>
                </p14:cNvPr>
                <p14:cNvContentPartPr/>
                <p14:nvPr/>
              </p14:nvContentPartPr>
              <p14:xfrm>
                <a:off x="9613720" y="6140020"/>
                <a:ext cx="1278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6B980E-056D-31BE-4659-9D375A013B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07600" y="6133900"/>
                  <a:ext cx="140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BFAEB4-B096-4EA6-EE30-39C4ADDB45FD}"/>
                    </a:ext>
                  </a:extLst>
                </p14:cNvPr>
                <p14:cNvContentPartPr/>
                <p14:nvPr/>
              </p14:nvContentPartPr>
              <p14:xfrm>
                <a:off x="9851680" y="6140020"/>
                <a:ext cx="11340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BFAEB4-B096-4EA6-EE30-39C4ADDB45F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45560" y="6133900"/>
                  <a:ext cx="125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144FDE-D0CA-8484-C839-16B842DB8289}"/>
                    </a:ext>
                  </a:extLst>
                </p14:cNvPr>
                <p14:cNvContentPartPr/>
                <p14:nvPr/>
              </p14:nvContentPartPr>
              <p14:xfrm>
                <a:off x="10093240" y="6140020"/>
                <a:ext cx="15948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144FDE-D0CA-8484-C839-16B842DB82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87120" y="6133900"/>
                  <a:ext cx="17172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4AEC92F-77D5-0368-5474-8A422AF2655B}"/>
                  </a:ext>
                </a:extLst>
              </p14:cNvPr>
              <p14:cNvContentPartPr/>
              <p14:nvPr/>
            </p14:nvContentPartPr>
            <p14:xfrm>
              <a:off x="10340560" y="6140020"/>
              <a:ext cx="30384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4AEC92F-77D5-0368-5474-8A422AF2655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34440" y="6133900"/>
                <a:ext cx="3160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C932BF54-4280-CE71-9016-41B9197A9454}"/>
              </a:ext>
            </a:extLst>
          </p:cNvPr>
          <p:cNvGrpSpPr/>
          <p:nvPr/>
        </p:nvGrpSpPr>
        <p:grpSpPr>
          <a:xfrm>
            <a:off x="6864040" y="5647900"/>
            <a:ext cx="495360" cy="360"/>
            <a:chOff x="6864040" y="5647900"/>
            <a:chExt cx="495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EF3B15-73F5-9F75-B06E-B2F4E4643CE7}"/>
                    </a:ext>
                  </a:extLst>
                </p14:cNvPr>
                <p14:cNvContentPartPr/>
                <p14:nvPr/>
              </p14:nvContentPartPr>
              <p14:xfrm>
                <a:off x="6864040" y="5647900"/>
                <a:ext cx="5040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EF3B15-73F5-9F75-B06E-B2F4E4643CE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57920" y="5641780"/>
                  <a:ext cx="62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FAFC30-02A5-D6ED-BC71-C802A1192A2C}"/>
                    </a:ext>
                  </a:extLst>
                </p14:cNvPr>
                <p14:cNvContentPartPr/>
                <p14:nvPr/>
              </p14:nvContentPartPr>
              <p14:xfrm>
                <a:off x="7029280" y="5647900"/>
                <a:ext cx="8604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FAFC30-02A5-D6ED-BC71-C802A1192A2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23160" y="5641780"/>
                  <a:ext cx="98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12DDE7-63E5-D2C6-95EF-77CCADA3D6EB}"/>
                    </a:ext>
                  </a:extLst>
                </p14:cNvPr>
                <p14:cNvContentPartPr/>
                <p14:nvPr/>
              </p14:nvContentPartPr>
              <p14:xfrm>
                <a:off x="7207120" y="5647900"/>
                <a:ext cx="1522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12DDE7-63E5-D2C6-95EF-77CCADA3D6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01000" y="5641780"/>
                  <a:ext cx="164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9DAC7F-7303-CE15-F1C1-5E4D8F50B8F3}"/>
                    </a:ext>
                  </a:extLst>
                </p14:cNvPr>
                <p14:cNvContentPartPr/>
                <p14:nvPr/>
              </p14:nvContentPartPr>
              <p14:xfrm>
                <a:off x="6914440" y="5647900"/>
                <a:ext cx="6768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9DAC7F-7303-CE15-F1C1-5E4D8F50B8F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08320" y="5641780"/>
                  <a:ext cx="799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0CFE119-8B6B-4F51-DD84-032EDDDA0842}"/>
              </a:ext>
            </a:extLst>
          </p:cNvPr>
          <p:cNvGrpSpPr/>
          <p:nvPr/>
        </p:nvGrpSpPr>
        <p:grpSpPr>
          <a:xfrm>
            <a:off x="7454800" y="5647900"/>
            <a:ext cx="813600" cy="360"/>
            <a:chOff x="7454800" y="5647900"/>
            <a:chExt cx="813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522AA4-25AD-8DDE-826D-10FEA5B16D45}"/>
                    </a:ext>
                  </a:extLst>
                </p14:cNvPr>
                <p14:cNvContentPartPr/>
                <p14:nvPr/>
              </p14:nvContentPartPr>
              <p14:xfrm>
                <a:off x="7454800" y="5647900"/>
                <a:ext cx="15012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2522AA4-25AD-8DDE-826D-10FEA5B16D4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48680" y="5641780"/>
                  <a:ext cx="162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DB7C02-E6F8-FADC-A2E3-3FF15965AF7D}"/>
                    </a:ext>
                  </a:extLst>
                </p14:cNvPr>
                <p14:cNvContentPartPr/>
                <p14:nvPr/>
              </p14:nvContentPartPr>
              <p14:xfrm>
                <a:off x="7680160" y="5647900"/>
                <a:ext cx="14112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DB7C02-E6F8-FADC-A2E3-3FF15965AF7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74040" y="5641780"/>
                  <a:ext cx="153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ED89F1-42B7-000D-4B51-276CAEC1A465}"/>
                    </a:ext>
                  </a:extLst>
                </p14:cNvPr>
                <p14:cNvContentPartPr/>
                <p14:nvPr/>
              </p14:nvContentPartPr>
              <p14:xfrm>
                <a:off x="7892920" y="5647900"/>
                <a:ext cx="7452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ED89F1-42B7-000D-4B51-276CAEC1A4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86800" y="5641780"/>
                  <a:ext cx="8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A940CE-1E50-0D58-C5FC-881C75D77BA3}"/>
                    </a:ext>
                  </a:extLst>
                </p14:cNvPr>
                <p14:cNvContentPartPr/>
                <p14:nvPr/>
              </p14:nvContentPartPr>
              <p14:xfrm>
                <a:off x="8108560" y="5647900"/>
                <a:ext cx="15984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A940CE-1E50-0D58-C5FC-881C75D77BA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02440" y="5641780"/>
                  <a:ext cx="172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F672F2E-2676-06E5-177D-E1DD756E0470}"/>
                    </a:ext>
                  </a:extLst>
                </p14:cNvPr>
                <p14:cNvContentPartPr/>
                <p14:nvPr/>
              </p14:nvContentPartPr>
              <p14:xfrm>
                <a:off x="7940440" y="5647900"/>
                <a:ext cx="885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F672F2E-2676-06E5-177D-E1DD756E047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34320" y="5641780"/>
                  <a:ext cx="1008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1B28D7D-B432-1B50-8098-6B55BB9ED2DF}"/>
              </a:ext>
            </a:extLst>
          </p:cNvPr>
          <p:cNvSpPr txBox="1"/>
          <p:nvPr/>
        </p:nvSpPr>
        <p:spPr>
          <a:xfrm>
            <a:off x="7611412" y="5669149"/>
            <a:ext cx="140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63% charge, </a:t>
            </a:r>
            <a:r>
              <a:rPr lang="en-US" sz="900" dirty="0"/>
              <a:t>t=</a:t>
            </a:r>
            <a:r>
              <a:rPr lang="el-GR" sz="900" dirty="0"/>
              <a:t>τ</a:t>
            </a:r>
            <a:r>
              <a:rPr lang="en-US" sz="800" dirty="0"/>
              <a:t> </a:t>
            </a:r>
            <a:endParaRPr lang="en-US" sz="800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4DCFA7-AAED-8A1F-7318-8A07BF041678}"/>
              </a:ext>
            </a:extLst>
          </p:cNvPr>
          <p:cNvSpPr txBox="1"/>
          <p:nvPr/>
        </p:nvSpPr>
        <p:spPr>
          <a:xfrm>
            <a:off x="10479759" y="5850088"/>
            <a:ext cx="140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37% decay, </a:t>
            </a:r>
            <a:r>
              <a:rPr lang="en-US" sz="900" dirty="0"/>
              <a:t>t=</a:t>
            </a:r>
            <a:r>
              <a:rPr lang="el-GR" sz="900" dirty="0"/>
              <a:t>τ</a:t>
            </a:r>
            <a:r>
              <a:rPr lang="en-US" sz="800" dirty="0"/>
              <a:t> </a:t>
            </a:r>
            <a:endParaRPr lang="en-US" sz="800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81283F2-61D7-E28B-7629-97D63A53EB53}"/>
                  </a:ext>
                </a:extLst>
              </p14:cNvPr>
              <p14:cNvContentPartPr/>
              <p14:nvPr/>
            </p14:nvContentPartPr>
            <p14:xfrm>
              <a:off x="9091040" y="4988440"/>
              <a:ext cx="360" cy="174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81283F2-61D7-E28B-7629-97D63A53EB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084920" y="4982320"/>
                <a:ext cx="126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EAB8B0E-FAD8-7E94-72AF-9E66C18B9BF8}"/>
                  </a:ext>
                </a:extLst>
              </p14:cNvPr>
              <p14:cNvContentPartPr/>
              <p14:nvPr/>
            </p14:nvContentPartPr>
            <p14:xfrm>
              <a:off x="9091040" y="5354200"/>
              <a:ext cx="360" cy="270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EAB8B0E-FAD8-7E94-72AF-9E66C18B9BF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84920" y="5348080"/>
                <a:ext cx="1260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CD90AB5-A79E-202C-D605-2FC4FC7287F3}"/>
                  </a:ext>
                </a:extLst>
              </p14:cNvPr>
              <p14:cNvContentPartPr/>
              <p14:nvPr/>
            </p14:nvContentPartPr>
            <p14:xfrm>
              <a:off x="9091040" y="5760280"/>
              <a:ext cx="360" cy="254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CD90AB5-A79E-202C-D605-2FC4FC7287F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084920" y="5754160"/>
                <a:ext cx="12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A1521A8-F6AD-F495-F7EB-A36E86CA3579}"/>
                  </a:ext>
                </a:extLst>
              </p14:cNvPr>
              <p14:cNvContentPartPr/>
              <p14:nvPr/>
            </p14:nvContentPartPr>
            <p14:xfrm>
              <a:off x="9091040" y="6202360"/>
              <a:ext cx="360" cy="244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A1521A8-F6AD-F495-F7EB-A36E86CA357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084920" y="6196240"/>
                <a:ext cx="126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09F36AC-B770-FDEE-E315-BE3C0048DC16}"/>
                  </a:ext>
                </a:extLst>
              </p14:cNvPr>
              <p14:cNvContentPartPr/>
              <p14:nvPr/>
            </p14:nvContentPartPr>
            <p14:xfrm>
              <a:off x="9091040" y="6522400"/>
              <a:ext cx="360" cy="254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09F36AC-B770-FDEE-E315-BE3C0048DC1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084920" y="6516280"/>
                <a:ext cx="12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6813A5F-8B74-2057-C101-97C9A485C90E}"/>
                  </a:ext>
                </a:extLst>
              </p14:cNvPr>
              <p14:cNvContentPartPr/>
              <p14:nvPr/>
            </p14:nvContentPartPr>
            <p14:xfrm>
              <a:off x="9091040" y="4855240"/>
              <a:ext cx="360" cy="694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6813A5F-8B74-2057-C101-97C9A485C90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84920" y="4849120"/>
                <a:ext cx="12600" cy="8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083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9B026-94EF-3AB8-14DC-CA67205E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Acknowledgments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570B-0748-66EA-5F77-6F20D8DAE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2607732"/>
            <a:ext cx="8412480" cy="3174357"/>
          </a:xfrm>
        </p:spPr>
        <p:txBody>
          <a:bodyPr>
            <a:normAutofit/>
          </a:bodyPr>
          <a:lstStyle/>
          <a:p>
            <a:r>
              <a:rPr lang="en-US" dirty="0"/>
              <a:t>I would like to thank my group for helping me assemble this presentation (You guys rock!!!!)</a:t>
            </a:r>
          </a:p>
          <a:p>
            <a:r>
              <a:rPr lang="en-US" dirty="0"/>
              <a:t>I would also like to thank my mom, sis, and gf for sitting through and hearing me prepare for this presentation </a:t>
            </a:r>
          </a:p>
          <a:p>
            <a:r>
              <a:rPr lang="en-US" dirty="0"/>
              <a:t>I also would like to thank Professor </a:t>
            </a:r>
            <a:r>
              <a:rPr lang="en-US" dirty="0" err="1"/>
              <a:t>Cebe</a:t>
            </a:r>
            <a:r>
              <a:rPr lang="en-US" dirty="0"/>
              <a:t> for supporting and permitting me to present this fascinating topic </a:t>
            </a:r>
          </a:p>
          <a:p>
            <a:r>
              <a:rPr lang="en-US" dirty="0"/>
              <a:t>Finally, I would thank Dr. Barry Trimmer for giving me much background on this topic in Neurobiology</a:t>
            </a:r>
          </a:p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98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9B026-94EF-3AB8-14DC-CA67205E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References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570B-0748-66EA-5F77-6F20D8DAE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2607732"/>
            <a:ext cx="9756776" cy="411691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2"/>
              </a:rPr>
              <a:t>https://www.simplypsychology.org/myelin-sheath.html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3"/>
              </a:rPr>
              <a:t>https://www.physiologyweb.com/calculators/nernst_equation_calculator.html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4"/>
              </a:rPr>
              <a:t>https://www.physiologyweb.com/calculators/ghk_equation_calculator.html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5"/>
              </a:rPr>
              <a:t>https://openbooks.lib.msu.edu/neuroscience/chapter/membrane-potential/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6"/>
              </a:rPr>
              <a:t>https://courses.lumenlearning.com/wm-biology2/chapter/resting-membrane-potential/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7"/>
              </a:rPr>
              <a:t>https://mrgreene09.github.io/computational-neuroscience-textbook/Ch4.html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8"/>
              </a:rPr>
              <a:t>http://pittmedneuro.com/synaptic.html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Nelson </a:t>
            </a:r>
            <a:r>
              <a:rPr lang="en-US" i="1" dirty="0"/>
              <a:t>Biological Physics: Energy, Information, Life </a:t>
            </a:r>
            <a:r>
              <a:rPr lang="en-US" dirty="0"/>
              <a:t>Chapter 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Montanino</a:t>
            </a:r>
            <a:r>
              <a:rPr lang="en-US" dirty="0"/>
              <a:t>, A., </a:t>
            </a:r>
            <a:r>
              <a:rPr lang="en-US" dirty="0" err="1"/>
              <a:t>Deryckere</a:t>
            </a:r>
            <a:r>
              <a:rPr lang="en-US" dirty="0"/>
              <a:t>, A., </a:t>
            </a:r>
            <a:r>
              <a:rPr lang="en-US" dirty="0" err="1"/>
              <a:t>Famaey</a:t>
            </a:r>
            <a:r>
              <a:rPr lang="en-US" dirty="0"/>
              <a:t>, N. </a:t>
            </a:r>
            <a:r>
              <a:rPr lang="en-US" i="1" dirty="0"/>
              <a:t>et al.</a:t>
            </a:r>
            <a:r>
              <a:rPr lang="en-US" dirty="0"/>
              <a:t> Mechanical characterization of squid giant axon membrane sheath and influence of the collagenous endoneurium on its properties. </a:t>
            </a:r>
            <a:r>
              <a:rPr lang="en-US" i="1" dirty="0"/>
              <a:t>Sci Rep</a:t>
            </a:r>
            <a:r>
              <a:rPr lang="en-US" dirty="0"/>
              <a:t> </a:t>
            </a:r>
            <a:r>
              <a:rPr lang="en-US" b="1" dirty="0"/>
              <a:t>9</a:t>
            </a:r>
            <a:r>
              <a:rPr lang="en-US" dirty="0"/>
              <a:t>, 8969 (2019). </a:t>
            </a:r>
            <a:r>
              <a:rPr lang="en-US" dirty="0">
                <a:hlinkClick r:id="rId9"/>
              </a:rPr>
              <a:t>https://doi.org/10.1038/s41598-019-45446-y</a:t>
            </a:r>
            <a:endParaRPr lang="en-US" dirty="0"/>
          </a:p>
          <a:p>
            <a:r>
              <a:rPr lang="en-US" dirty="0" err="1"/>
              <a:t>Sakmann</a:t>
            </a:r>
            <a:r>
              <a:rPr lang="en-US" dirty="0"/>
              <a:t> B, </a:t>
            </a:r>
            <a:r>
              <a:rPr lang="en-US" dirty="0" err="1"/>
              <a:t>Trube</a:t>
            </a:r>
            <a:r>
              <a:rPr lang="en-US" dirty="0"/>
              <a:t> G. Conductance properties of single inwardly rectifying potassium channels in ventricular cells from guinea-pig heart. J Physiol. 1984 Feb;347:641-57. </a:t>
            </a:r>
            <a:r>
              <a:rPr lang="en-US" dirty="0" err="1"/>
              <a:t>doi</a:t>
            </a:r>
            <a:r>
              <a:rPr lang="en-US" dirty="0"/>
              <a:t>: 10.1113/jphysiol.1984.sp015088. PMID: 6323703; PMCID: PMC1199469</a:t>
            </a:r>
            <a:endParaRPr lang="en-US" baseline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Milburn T, Saint DA, Chung SH. The temperature dependence of conductance of the sodium channel: implications for mechanisms of ion permeation. </a:t>
            </a:r>
            <a:r>
              <a:rPr lang="en-US" dirty="0" err="1"/>
              <a:t>Recept</a:t>
            </a:r>
            <a:r>
              <a:rPr lang="en-US" dirty="0"/>
              <a:t> Channels. 1995;3(3):201-211. PMID: 8821793.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64592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AnalogousFromDarkSeedLeftStep">
      <a:dk1>
        <a:srgbClr val="000000"/>
      </a:dk1>
      <a:lt1>
        <a:srgbClr val="FFFFFF"/>
      </a:lt1>
      <a:dk2>
        <a:srgbClr val="1C2F32"/>
      </a:dk2>
      <a:lt2>
        <a:srgbClr val="F2F3F0"/>
      </a:lt2>
      <a:accent1>
        <a:srgbClr val="7C4DC3"/>
      </a:accent1>
      <a:accent2>
        <a:srgbClr val="4A4CB8"/>
      </a:accent2>
      <a:accent3>
        <a:srgbClr val="4D80C3"/>
      </a:accent3>
      <a:accent4>
        <a:srgbClr val="3BA0B1"/>
      </a:accent4>
      <a:accent5>
        <a:srgbClr val="4CC0A1"/>
      </a:accent5>
      <a:accent6>
        <a:srgbClr val="3BB160"/>
      </a:accent6>
      <a:hlink>
        <a:srgbClr val="339B90"/>
      </a:hlink>
      <a:folHlink>
        <a:srgbClr val="7F7F7F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2285</Words>
  <Application>Microsoft Office PowerPoint</Application>
  <PresentationFormat>Widescreen</PresentationFormat>
  <Paragraphs>181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Aptos</vt:lpstr>
      <vt:lpstr>Arial</vt:lpstr>
      <vt:lpstr>Avenir Next LT Pro</vt:lpstr>
      <vt:lpstr>Cambria Math</vt:lpstr>
      <vt:lpstr>CMMI10</vt:lpstr>
      <vt:lpstr>CMMI7</vt:lpstr>
      <vt:lpstr>CMR10</vt:lpstr>
      <vt:lpstr>CMR5</vt:lpstr>
      <vt:lpstr>CMR7</vt:lpstr>
      <vt:lpstr>CMSY7</vt:lpstr>
      <vt:lpstr>Sitka Banner</vt:lpstr>
      <vt:lpstr>HeadlinesVTI</vt:lpstr>
      <vt:lpstr>Neural Circuitry</vt:lpstr>
      <vt:lpstr>What is a Neuron</vt:lpstr>
      <vt:lpstr>Neuronal Properties </vt:lpstr>
      <vt:lpstr>Action Potentials </vt:lpstr>
      <vt:lpstr>How does this Translate into Circuits?</vt:lpstr>
      <vt:lpstr>Driving Force</vt:lpstr>
      <vt:lpstr>Hodgkin &amp; Huxley</vt:lpstr>
      <vt:lpstr>Single RC Circuit</vt:lpstr>
      <vt:lpstr>Single RC Circuit(cont.)</vt:lpstr>
      <vt:lpstr>The Neuron as a Cable</vt:lpstr>
      <vt:lpstr>The Neuron as a Cable(cont.)</vt:lpstr>
      <vt:lpstr>Putting this Together </vt:lpstr>
      <vt:lpstr>Biological Optimizations: Giant Squid Axon </vt:lpstr>
      <vt:lpstr>Biological Optimizations: Myelin</vt:lpstr>
      <vt:lpstr>Acknowledgments </vt:lpstr>
      <vt:lpstr>References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Circuitry</dc:title>
  <dc:creator>Nino KOCI</dc:creator>
  <cp:lastModifiedBy>Nino KOCI</cp:lastModifiedBy>
  <cp:revision>1</cp:revision>
  <dcterms:created xsi:type="dcterms:W3CDTF">2024-04-10T17:06:13Z</dcterms:created>
  <dcterms:modified xsi:type="dcterms:W3CDTF">2025-12-10T11:51:03Z</dcterms:modified>
</cp:coreProperties>
</file>